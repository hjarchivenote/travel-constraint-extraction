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90c097a0ea64d71" /><Relationship Type="http://schemas.openxmlformats.org/officeDocument/2006/relationships/extended-properties" Target="/docProps/app.xml" Id="R081145f4595548e7" /><Relationship Type="http://schemas.openxmlformats.org/officeDocument/2006/relationships/officeDocument" Target="/ppt/presentation.xml" Id="R63ecc847a347426e" /></Relationships>
</file>

<file path=ppt/presentation.xml><?xml version="1.0" encoding="utf-8"?>
<p:presentation xmlns:p="http://schemas.openxmlformats.org/presentationml/2006/main">
  <p:sldMasterIdLst>
    <p:sldMasterId xmlns:r="http://schemas.openxmlformats.org/officeDocument/2006/relationships" id="2147483648" r:id="Rc2c9870973df4794"/>
  </p:sldMasterIdLst>
  <p:notesMasterIdLst>
    <p:notesMasterId xmlns:r="http://schemas.openxmlformats.org/officeDocument/2006/relationships" r:id="Rb2cf009569134bea"/>
  </p:notesMasterIdLst>
  <p:sldIdLst>
    <p:sldId xmlns:r="http://schemas.openxmlformats.org/officeDocument/2006/relationships" id="256" r:id="R37b60df595b34807"/>
    <p:sldId xmlns:r="http://schemas.openxmlformats.org/officeDocument/2006/relationships" id="257" r:id="R97ed3bcac5004c94"/>
    <p:sldId xmlns:r="http://schemas.openxmlformats.org/officeDocument/2006/relationships" id="258" r:id="R77f5ec7224cc4477"/>
    <p:sldId xmlns:r="http://schemas.openxmlformats.org/officeDocument/2006/relationships" id="259" r:id="R367d9a3058b046c1"/>
    <p:sldId xmlns:r="http://schemas.openxmlformats.org/officeDocument/2006/relationships" id="260" r:id="R6ca8adee2e5e469f"/>
    <p:sldId xmlns:r="http://schemas.openxmlformats.org/officeDocument/2006/relationships" id="261" r:id="R71092589c3e14c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60344d47324b0a" /><Relationship Type="http://schemas.openxmlformats.org/officeDocument/2006/relationships/slideMaster" Target="/ppt/slideMasters/slideMaster1.xml" Id="Rc2c9870973df4794" /><Relationship Type="http://schemas.openxmlformats.org/officeDocument/2006/relationships/notesMaster" Target="/ppt/notesMasters/notesMaster1.xml" Id="Rb2cf009569134bea" /><Relationship Type="http://schemas.openxmlformats.org/officeDocument/2006/relationships/presProps" Target="/ppt/presProps.xml" Id="R65ec0a18e6174dc2" /><Relationship Type="http://schemas.openxmlformats.org/officeDocument/2006/relationships/tableStyles" Target="/ppt/tableStyles.xml" Id="Rfcbe2164f6ce4335" /><Relationship Type="http://schemas.openxmlformats.org/officeDocument/2006/relationships/slide" Target="/ppt/slides/slide1.xml" Id="R37b60df595b34807" /><Relationship Type="http://schemas.openxmlformats.org/officeDocument/2006/relationships/slide" Target="/ppt/slides/slide2.xml" Id="R97ed3bcac5004c94" /><Relationship Type="http://schemas.openxmlformats.org/officeDocument/2006/relationships/slide" Target="/ppt/slides/slide3.xml" Id="R77f5ec7224cc4477" /><Relationship Type="http://schemas.openxmlformats.org/officeDocument/2006/relationships/slide" Target="/ppt/slides/slide4.xml" Id="R367d9a3058b046c1" /><Relationship Type="http://schemas.openxmlformats.org/officeDocument/2006/relationships/slide" Target="/ppt/slides/slide5.xml" Id="R6ca8adee2e5e469f" /><Relationship Type="http://schemas.openxmlformats.org/officeDocument/2006/relationships/slide" Target="/ppt/slides/slide6.xml" Id="R71092589c3e14c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8f5953b3974e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581f164ec34719" /><Relationship Type="http://schemas.openxmlformats.org/officeDocument/2006/relationships/notesMaster" Target="/ppt/notesMasters/notesMaster1.xml" Id="R6cdaeab9dab443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0f19ad199e4839" /><Relationship Type="http://schemas.openxmlformats.org/officeDocument/2006/relationships/notesMaster" Target="/ppt/notesMasters/notesMaster1.xml" Id="Ree631aa7e7344a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93f8458ce641dd" /><Relationship Type="http://schemas.openxmlformats.org/officeDocument/2006/relationships/notesMaster" Target="/ppt/notesMasters/notesMaster1.xml" Id="Rf3d383fad9234c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8bb0ba2ff042bf" /><Relationship Type="http://schemas.openxmlformats.org/officeDocument/2006/relationships/notesMaster" Target="/ppt/notesMasters/notesMaster1.xml" Id="Rb734d93068b64a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fe6b8f40ee4084" /><Relationship Type="http://schemas.openxmlformats.org/officeDocument/2006/relationships/notesMaster" Target="/ppt/notesMasters/notesMaster1.xml" Id="Rb0866fe8eb1647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ba44699d054de0" /><Relationship Type="http://schemas.openxmlformats.org/officeDocument/2006/relationships/notesMaster" Target="/ppt/notesMasters/notesMaster1.xml" Id="R21784c12d6bf49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project extracts travel constraints from English requests. A traveler might ask to keep a gallery visit, return earlier, and choose an indoor activity if it rains. The main task is understanding these instructions and producing structured JSON. I compare a small model before and after LoRA fine-tuning with a larger model using two examples. The itinerary interface makes the extracted conditions visible. It is a demonstration rather than a route optimizer.</a:t>
            </a:r>
          </a:p>
          <a:p xmlns:a="http://schemas.openxmlformats.org/drawingml/2006/main">
            <a:r>
              <a:t/>
            </a:r>
          </a:p>
          <a:p xmlns:a="http://schemas.openxmlformats.org/drawingml/2006/main">
            <a:r>
              <a:t>Sources: Project report; https://arxiv.org/abs/2412.15115; https://arxiv.org/abs/2106.09685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includes a reference itinerary, so the model can resolve phrases such as the gallery or the original return time. Each extracted item has a type, target, operator, value, priority, clarification flag, and weather condition. Direct instructions are hard requirements. Prefer indicates a soft preference. Less walking does not imply a numeric limit. If a time or walking scope is missing, the model should preserve that uncertainty instead of inventing an answer.</a:t>
            </a:r>
          </a:p>
          <a:p xmlns:a="http://schemas.openxmlformats.org/drawingml/2006/main">
            <a:r>
              <a:t/>
            </a:r>
          </a:p>
          <a:p xmlns:a="http://schemas.openxmlformats.org/drawingml/2006/main">
            <a:r>
              <a:t>Sources: src/travel_constraints/contract.py; src/travel_constraints/output_schema.json. Table is illustrative, not a measured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has one hundred reference scenarios and four paraphrases per scenario. Splitting by scenario keeps all four together. Separate wording pools remove identical request text across splits, although the task families and templates still repeat. The labels were AI-reviewed and checked automatically; none are marked human-verified. LoRA trains seven hundred thirty-three thousand parameters in the last four layers. The final CPU run completed three epochs after a GPU stability failure. Test examples were not used for training or prompt selection.</a:t>
            </a:r>
          </a:p>
          <a:p xmlns:a="http://schemas.openxmlformats.org/drawingml/2006/main">
            <a:r>
              <a:t/>
            </a:r>
          </a:p>
          <a:p xmlns:a="http://schemas.openxmlformats.org/drawingml/2006/main">
            <a:r>
              <a:t>Sources: data/metadata.json; data/splits.json; experiments/training_run.json; https://arxiv.org/abs/2106.09685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models received the same eighty held-out inputs and output schema. Content F1 requires matching the operator, value, and condition, while priority is scored separately. LoRA achieved F1 0.795, compared with 0.000 for the small baseline and 0.782 for the larger model. It produced 57 fully correct records out of eighty. Strict schema failures count as empty extractions. These scores describe a small synthetic benchmark. The larger model also differs in quantization and prompting, so this does not isolate parameter count.</a:t>
            </a:r>
          </a:p>
          <a:p xmlns:a="http://schemas.openxmlformats.org/drawingml/2006/main">
            <a:r>
              <a:t/>
            </a:r>
          </a:p>
          <a:p xmlns:a="http://schemas.openxmlformats.org/drawingml/2006/main">
            <a:r>
              <a:t>Sources: experiments/protocol.json; experiments/results/comparison.json. F1 is constraint-content micro F1. Chart values are rounded to three decimals; full precision remains in the JSON. See report for cluster bootstrap intervals.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displays an actual saved validation prediction, separate from the test set. It can also run the local LoRA model on edited text. Open-Meteo supplies London forecasts. The planner activates the rainy or dry branch, and keeps both pending when forecast coverage is missing. Simulated weather is labeled. Place candidates use attributed OpenStreetMap coordinates. Opening hours, walking routes, and business availability are not verified. The demo shows how structured language output can support a downstream application.</a:t>
            </a:r>
          </a:p>
          <a:p xmlns:a="http://schemas.openxmlformats.org/drawingml/2006/main">
            <a:r>
              <a:t/>
            </a:r>
          </a:p>
          <a:p xmlns:a="http://schemas.openxmlformats.org/drawingml/2006/main">
            <a:r>
              <a:t>Sources: demo/saved_examples.json; docs/images/conditions.png; https://open-meteo.com/en/docs/ecmwf-api; https://www.openstreetmap.org/copyright. Forecast: Open-Meteo / ECMWF, CC BY 4.0. Place data: © OpenStreetMap contributors, ODbL.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a reproducible comparison, not a claim that travel planning is solved. The model still makes important mistakes with walking scope and time relations. The next step would be an independently annotated set of real requests and repeated training seeds. AI assistance was used for code, synthetic labels, experiments, and documentation, and is disclosed in the report. The repository includes the dataset, adapter, raw predictions, evaluation code, and runnable demo so that the result can be inspected.</a:t>
            </a:r>
          </a:p>
          <a:p xmlns:a="http://schemas.openxmlformats.org/drawingml/2006/main">
            <a:r>
              <a:t/>
            </a:r>
          </a:p>
          <a:p xmlns:a="http://schemas.openxmlformats.org/drawingml/2006/main">
            <a:r>
              <a:t>Sources: experiments/results/error_analysis.json; project report,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1a5c55c94446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3bf08eadbb45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1db27dde704c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4c4a7d76c543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0cbbafe9f548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1d323c9aaa4d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F245DD-A1C7-4D5C-9470-270F45A0292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E0BB39-8080-41B9-8178-0BBBA9508C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4CEEB6-9F9C-41CE-9A5F-9FEA236938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22BF21-6CB0-44E6-ABBF-29E1ED9289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0518D8-3227-42D8-BA57-D2C8EE6683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E244ED-39E8-4FF3-ACC4-2AB6F0A6F2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B56484-5FB9-43F3-93B6-2BF2A2131B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BEAD68-2E38-4EF7-A60B-746CD9D7FE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2EAD78-ABF9-46FE-B978-6D30E61232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B9F068-7CC9-4CE1-9C88-14FD9FBD4E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2d58a37fd5490e" /><Relationship Type="http://schemas.openxmlformats.org/officeDocument/2006/relationships/slideLayout" Target="/ppt/slideLayouts/slideLayout1.xml" Id="Rd2095ac6ae5f4fce" /><Relationship Type="http://schemas.openxmlformats.org/officeDocument/2006/relationships/slideLayout" Target="/ppt/slideLayouts/slideLayout2.xml" Id="R71f4a498822c4197" /><Relationship Type="http://schemas.openxmlformats.org/officeDocument/2006/relationships/slideLayout" Target="/ppt/slideLayouts/slideLayout3.xml" Id="Rc12bec13cf914032" /><Relationship Type="http://schemas.openxmlformats.org/officeDocument/2006/relationships/slideLayout" Target="/ppt/slideLayouts/slideLayout4.xml" Id="Re2ad4dccfb9e4edc" /><Relationship Type="http://schemas.openxmlformats.org/officeDocument/2006/relationships/slideLayout" Target="/ppt/slideLayouts/slideLayout5.xml" Id="Rb30ebf97836c4859" /><Relationship Type="http://schemas.openxmlformats.org/officeDocument/2006/relationships/slideLayout" Target="/ppt/slideLayouts/slideLayout6.xml" Id="R3a61a466094444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095ac6ae5f4fce"/>
    <p:sldLayoutId xmlns:r="http://schemas.openxmlformats.org/officeDocument/2006/relationships" id="2147483650" r:id="R71f4a498822c4197"/>
    <p:sldLayoutId xmlns:r="http://schemas.openxmlformats.org/officeDocument/2006/relationships" id="2147483651" r:id="Rc12bec13cf914032"/>
    <p:sldLayoutId xmlns:r="http://schemas.openxmlformats.org/officeDocument/2006/relationships" id="2147483652" r:id="Re2ad4dccfb9e4edc"/>
    <p:sldLayoutId xmlns:r="http://schemas.openxmlformats.org/officeDocument/2006/relationships" id="2147483653" r:id="Rb30ebf97836c4859"/>
    <p:sldLayoutId xmlns:r="http://schemas.openxmlformats.org/officeDocument/2006/relationships" id="2147483654" r:id="R3a61a466094444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54411b52854def" /><Relationship Type="http://schemas.openxmlformats.org/officeDocument/2006/relationships/notesSlide" Target="/ppt/notesSlides/notesSlide1.xml" Id="Rf6fa876f7e3148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72a25956364c08" /><Relationship Type="http://schemas.openxmlformats.org/officeDocument/2006/relationships/notesSlide" Target="/ppt/notesSlides/notesSlide2.xml" Id="R0d9aaba5629449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181dcab27f4701" /><Relationship Type="http://schemas.openxmlformats.org/officeDocument/2006/relationships/notesSlide" Target="/ppt/notesSlides/notesSlide3.xml" Id="R7676732130d3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4bb18c072a4f33" /><Relationship Type="http://schemas.openxmlformats.org/officeDocument/2006/relationships/chart" Target="/ppt/slides/charts/chart1.xml" Id="R706acf6af6ce4a04" /><Relationship Type="http://schemas.openxmlformats.org/officeDocument/2006/relationships/notesSlide" Target="/ppt/notesSlides/notesSlide4.xml" Id="R1065c044163447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17327d13af4719" /><Relationship Type="http://schemas.openxmlformats.org/officeDocument/2006/relationships/image" Target="/ppt/media/image.png" Id="R397031f7eec0426d" /><Relationship Type="http://schemas.openxmlformats.org/officeDocument/2006/relationships/notesSlide" Target="/ppt/notesSlides/notesSlide5.xml" Id="R997e5ad3de2649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d0bfc0cebf4977" /><Relationship Type="http://schemas.openxmlformats.org/officeDocument/2006/relationships/notesSlide" Target="/ppt/notesSlides/notesSlide6.xml" Id="R39bf8526653d484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Content F1 (rounded to 3 decimals)</c:v>
          </c:tx>
          <c:spPr>
            <a:solidFill xmlns:a="http://schemas.openxmlformats.org/drawingml/2006/main">
              <a:srgbClr val="245D51"/>
            </a:solidFill>
          </c:spPr>
          <c:invertIfNegative val="0"/>
          <c:dPt>
            <c:idx val="0"/>
            <c:invertIfNegative val="0"/>
            <c:spPr>
              <a:solidFill xmlns:a="http://schemas.openxmlformats.org/drawingml/2006/main">
                <a:srgbClr val="96AA9C"/>
              </a:solidFill>
            </c:spPr>
          </c:dPt>
          <c:dPt>
            <c:idx val="1"/>
            <c:invertIfNegative val="0"/>
            <c:spPr>
              <a:solidFill xmlns:a="http://schemas.openxmlformats.org/drawingml/2006/main">
                <a:srgbClr val="245D51"/>
              </a:solidFill>
            </c:spPr>
          </c:dPt>
          <c:dPt>
            <c:idx val="2"/>
            <c:invertIfNegative val="0"/>
            <c:spPr>
              <a:solidFill xmlns:a="http://schemas.openxmlformats.org/drawingml/2006/main">
                <a:srgbClr val="B7947D"/>
              </a:solidFill>
            </c:spPr>
          </c:dPt>
          <c:cat>
            <c:strRef>
              <c:f>'Chart Data'!$A$2:$A$4</c:f>
              <c:strCache>
                <c:ptCount val="3"/>
                <c:pt idx="0">
                  <c:v>0.5B baseline</c:v>
                </c:pt>
                <c:pt idx="1">
                  <c:v>0.5B + LoRA</c:v>
                </c:pt>
                <c:pt idx="2">
                  <c:v>7B two-shot</c:v>
                </c:pt>
              </c:strCache>
            </c:strRef>
          </c:cat>
          <c:val>
            <c:numRef>
              <c:f>'Chart Data'!$B$2:$B$4</c:f>
              <c:numCache>
                <c:formatCode>0.00</c:formatCode>
                <c:ptCount val="3"/>
                <c:pt idx="0">
                  <c:v>0</c:v>
                </c:pt>
                <c:pt idx="1">
                  <c:v>0.795</c:v>
                </c:pt>
                <c:pt idx="2">
                  <c:v>0.782</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b="1">
                  <a:solidFill>
                    <a:srgbClr val="18362F"/>
                  </a:solidFill>
                  <a:latin typeface="Arial"/>
                  <a:ea typeface="Arial"/>
                  <a:cs typeface="Arial"/>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DDD3"/>
            </a:solidFill>
          </a:ln>
        </c:spPr>
        <c:txPr>
          <a:bodyPr xmlns:a="http://schemas.openxmlformats.org/drawingml/2006/main" anchorCtr="1"/>
          <a:lstStyle xmlns:a="http://schemas.openxmlformats.org/drawingml/2006/main"/>
          <a:p xmlns:a="http://schemas.openxmlformats.org/drawingml/2006/main">
            <a:pPr>
              <a:defRPr sz="1575">
                <a:solidFill>
                  <a:srgbClr val="18362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DDD3"/>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F7168"/>
                </a:solidFill>
                <a:latin typeface="Arial"/>
                <a:ea typeface="Arial"/>
                <a:cs typeface="Arial"/>
              </a:defRPr>
            </a:pPr>
          </a:p>
        </c:txPr>
        <c:crossAx val="48650112"/>
        <c:crossBetween val="between"/>
        <c:majorUnit val="0.25"/>
      </c:valAx>
      <c:spPr>
        <a:solidFill xmlns:a="http://schemas.openxmlformats.org/drawingml/2006/main">
          <a:srgbClr val="F6F6EF"/>
        </a:solidFill>
      </c:spPr>
    </c:plotArea>
    <c:plotVisOnly val="1"/>
  </c:chart>
  <c:spPr>
    <a:solidFill xmlns:a="http://schemas.openxmlformats.org/drawingml/2006/main">
      <a:srgbClr val="F6F6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C5B743-C3BA-49D5-AB5F-F21BF13192A9}"/>
              </a:ext>
            </a:extLst>
          </p:cNvPr>
          <p:cNvSpPr>
            <a:spLocks xmlns:a="http://schemas.openxmlformats.org/drawingml/2006/main" noGrp="1"/>
          </p:cNvSpPr>
          <p:nvPr/>
        </p:nvSpPr>
        <p:spPr>
          <a:xfrm xmlns:a="http://schemas.openxmlformats.org/drawingml/2006/main">
            <a:off x="609600" y="266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RECENT AREAS OF AI  /  HYOJIN LEE</a:t>
            </a:r>
          </a:p>
        </p:txBody>
      </p:sp>
      <p:sp>
        <p:nvSpPr>
          <p:cNvPr id="2" name="">
            <a:extLst xmlns:a="http://schemas.openxmlformats.org/drawingml/2006/main">
              <a:ext uri="{FF2B5EF4-FFF2-40B4-BE49-F238E27FC236}">
                <a16:creationId xmlns:a16="http://schemas.microsoft.com/office/drawing/2014/main" id="{66E8B39C-E815-4193-9DD8-B1F355DB6410}"/>
              </a:ext>
            </a:extLst>
          </p:cNvPr>
          <p:cNvSpPr>
            <a:spLocks xmlns:a="http://schemas.openxmlformats.org/drawingml/2006/main" noGrp="1"/>
          </p:cNvSpPr>
          <p:nvPr/>
        </p:nvSpPr>
        <p:spPr>
          <a:xfrm xmlns:a="http://schemas.openxmlformats.org/drawingml/2006/main">
            <a:off x="10972800" y="2667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518934A4-8DAB-4F47-AA55-CC2FD7DCB41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B40C45-0DF9-4454-8742-5EF74E82EDDD}"/>
              </a:ext>
            </a:extLst>
          </p:cNvPr>
          <p:cNvSpPr>
            <a:spLocks xmlns:a="http://schemas.openxmlformats.org/drawingml/2006/main" noGrp="1"/>
          </p:cNvSpPr>
          <p:nvPr/>
        </p:nvSpPr>
        <p:spPr>
          <a:xfrm xmlns:a="http://schemas.openxmlformats.org/drawingml/2006/main">
            <a:off x="609600" y="64674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F7168"/>
                </a:solidFill>
                <a:latin typeface="Arial"/>
                <a:ea typeface="Arial"/>
                <a:cs typeface="Arial"/>
              </a:defRPr>
            </a:defPPr>
            <a:lvl1pPr>
              <a:defRPr sz="1050" b="0">
                <a:solidFill>
                  <a:srgbClr val="5F7168"/>
                </a:solidFill>
                <a:latin typeface="Arial"/>
                <a:ea typeface="Arial"/>
                <a:cs typeface="Arial"/>
              </a:defRPr>
            </a:lvl1pPr>
            <a:lvl2pPr>
              <a:defRPr sz="1050" b="0">
                <a:solidFill>
                  <a:srgbClr val="5F7168"/>
                </a:solidFill>
                <a:latin typeface="Arial"/>
                <a:ea typeface="Arial"/>
                <a:cs typeface="Arial"/>
              </a:defRPr>
            </a:lvl2pPr>
            <a:lvl3pPr>
              <a:defRPr sz="1050" b="0">
                <a:solidFill>
                  <a:srgbClr val="5F7168"/>
                </a:solidFill>
                <a:latin typeface="Arial"/>
                <a:ea typeface="Arial"/>
                <a:cs typeface="Arial"/>
              </a:defRPr>
            </a:lvl3pPr>
            <a:lvl4pPr>
              <a:defRPr sz="1050" b="0">
                <a:solidFill>
                  <a:srgbClr val="5F7168"/>
                </a:solidFill>
                <a:latin typeface="Arial"/>
                <a:ea typeface="Arial"/>
                <a:cs typeface="Arial"/>
              </a:defRPr>
            </a:lvl4pPr>
            <a:lvl5pPr>
              <a:defRPr sz="1050" b="0">
                <a:solidFill>
                  <a:srgbClr val="5F7168"/>
                </a:solidFill>
                <a:latin typeface="Arial"/>
                <a:ea typeface="Arial"/>
                <a:cs typeface="Arial"/>
              </a:defRPr>
            </a:lvl5pPr>
            <a:lvl6pPr>
              <a:defRPr sz="1050" b="0">
                <a:solidFill>
                  <a:srgbClr val="5F7168"/>
                </a:solidFill>
                <a:latin typeface="Arial"/>
                <a:ea typeface="Arial"/>
                <a:cs typeface="Arial"/>
              </a:defRPr>
            </a:lvl6pPr>
            <a:lvl7pPr>
              <a:defRPr sz="1050" b="0">
                <a:solidFill>
                  <a:srgbClr val="5F7168"/>
                </a:solidFill>
                <a:latin typeface="Arial"/>
                <a:ea typeface="Arial"/>
                <a:cs typeface="Arial"/>
              </a:defRPr>
            </a:lvl7pPr>
            <a:lvl8pPr>
              <a:defRPr sz="1050" b="0">
                <a:solidFill>
                  <a:srgbClr val="5F7168"/>
                </a:solidFill>
                <a:latin typeface="Arial"/>
                <a:ea typeface="Arial"/>
                <a:cs typeface="Arial"/>
              </a:defRPr>
            </a:lvl8pPr>
            <a:lvl9pPr>
              <a:defRPr sz="1050" b="0">
                <a:solidFill>
                  <a:srgbClr val="5F7168"/>
                </a:solidFill>
                <a:latin typeface="Arial"/>
                <a:ea typeface="Arial"/>
                <a:cs typeface="Arial"/>
              </a:defRPr>
            </a:lvl9pPr>
          </a:lstStyle>
          <a:p xmlns:a="http://schemas.openxmlformats.org/drawingml/2006/main">
            <a:pPr>
              <a:defRPr sz="1050" b="0">
                <a:solidFill>
                  <a:srgbClr val="5F7168"/>
                </a:solidFill>
                <a:latin typeface="Arial"/>
                <a:ea typeface="Arial"/>
                <a:cs typeface="Arial"/>
              </a:defRPr>
            </a:pPr>
            <a:r>
              <a:rPr sz="1050" b="0">
                <a:solidFill>
                  <a:srgbClr val="5F7168"/>
                </a:solidFill>
                <a:latin typeface="Arial"/>
                <a:ea typeface="Arial"/>
                <a:cs typeface="Arial"/>
              </a:rPr>
              <a:t>Travel Constraint Extraction · 2026</a:t>
            </a:r>
          </a:p>
        </p:txBody>
      </p:sp>
      <p:sp>
        <p:nvSpPr>
          <p:cNvPr id="5" name="">
            <a:extLst xmlns:a="http://schemas.openxmlformats.org/drawingml/2006/main">
              <a:ext uri="{FF2B5EF4-FFF2-40B4-BE49-F238E27FC236}">
                <a16:creationId xmlns:a16="http://schemas.microsoft.com/office/drawing/2014/main" id="{F8A06DF0-F119-477F-828C-7743F774DB51}"/>
              </a:ext>
            </a:extLst>
          </p:cNvPr>
          <p:cNvSpPr>
            <a:spLocks xmlns:a="http://schemas.openxmlformats.org/drawingml/2006/main" noGrp="1"/>
          </p:cNvSpPr>
          <p:nvPr/>
        </p:nvSpPr>
        <p:spPr>
          <a:xfrm xmlns:a="http://schemas.openxmlformats.org/drawingml/2006/main">
            <a:off x="609600" y="1390650"/>
            <a:ext cx="10763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550" b="1">
                <a:solidFill>
                  <a:srgbClr val="18362F"/>
                </a:solidFill>
                <a:latin typeface="Arial"/>
                <a:ea typeface="Arial"/>
                <a:cs typeface="Arial"/>
              </a:defRPr>
            </a:defPPr>
            <a:lvl1pPr>
              <a:defRPr sz="5550" b="1">
                <a:solidFill>
                  <a:srgbClr val="18362F"/>
                </a:solidFill>
                <a:latin typeface="Arial"/>
                <a:ea typeface="Arial"/>
                <a:cs typeface="Arial"/>
              </a:defRPr>
            </a:lvl1pPr>
            <a:lvl2pPr>
              <a:defRPr sz="5550" b="1">
                <a:solidFill>
                  <a:srgbClr val="18362F"/>
                </a:solidFill>
                <a:latin typeface="Arial"/>
                <a:ea typeface="Arial"/>
                <a:cs typeface="Arial"/>
              </a:defRPr>
            </a:lvl2pPr>
            <a:lvl3pPr>
              <a:defRPr sz="5550" b="1">
                <a:solidFill>
                  <a:srgbClr val="18362F"/>
                </a:solidFill>
                <a:latin typeface="Arial"/>
                <a:ea typeface="Arial"/>
                <a:cs typeface="Arial"/>
              </a:defRPr>
            </a:lvl3pPr>
            <a:lvl4pPr>
              <a:defRPr sz="5550" b="1">
                <a:solidFill>
                  <a:srgbClr val="18362F"/>
                </a:solidFill>
                <a:latin typeface="Arial"/>
                <a:ea typeface="Arial"/>
                <a:cs typeface="Arial"/>
              </a:defRPr>
            </a:lvl4pPr>
            <a:lvl5pPr>
              <a:defRPr sz="5550" b="1">
                <a:solidFill>
                  <a:srgbClr val="18362F"/>
                </a:solidFill>
                <a:latin typeface="Arial"/>
                <a:ea typeface="Arial"/>
                <a:cs typeface="Arial"/>
              </a:defRPr>
            </a:lvl5pPr>
            <a:lvl6pPr>
              <a:defRPr sz="5550" b="1">
                <a:solidFill>
                  <a:srgbClr val="18362F"/>
                </a:solidFill>
                <a:latin typeface="Arial"/>
                <a:ea typeface="Arial"/>
                <a:cs typeface="Arial"/>
              </a:defRPr>
            </a:lvl6pPr>
            <a:lvl7pPr>
              <a:defRPr sz="5550" b="1">
                <a:solidFill>
                  <a:srgbClr val="18362F"/>
                </a:solidFill>
                <a:latin typeface="Arial"/>
                <a:ea typeface="Arial"/>
                <a:cs typeface="Arial"/>
              </a:defRPr>
            </a:lvl7pPr>
            <a:lvl8pPr>
              <a:defRPr sz="5550" b="1">
                <a:solidFill>
                  <a:srgbClr val="18362F"/>
                </a:solidFill>
                <a:latin typeface="Arial"/>
                <a:ea typeface="Arial"/>
                <a:cs typeface="Arial"/>
              </a:defRPr>
            </a:lvl8pPr>
            <a:lvl9pPr>
              <a:defRPr sz="5550" b="1">
                <a:solidFill>
                  <a:srgbClr val="18362F"/>
                </a:solidFill>
                <a:latin typeface="Arial"/>
                <a:ea typeface="Arial"/>
                <a:cs typeface="Arial"/>
              </a:defRPr>
            </a:lvl9pPr>
          </a:lstStyle>
          <a:p xmlns:a="http://schemas.openxmlformats.org/drawingml/2006/main">
            <a:pPr>
              <a:defRPr sz="5550" b="1">
                <a:solidFill>
                  <a:srgbClr val="18362F"/>
                </a:solidFill>
                <a:latin typeface="Arial"/>
                <a:ea typeface="Arial"/>
                <a:cs typeface="Arial"/>
              </a:defRPr>
            </a:pPr>
            <a:r>
              <a:rPr sz="5550" b="1">
                <a:solidFill>
                  <a:srgbClr val="18362F"/>
                </a:solidFill>
                <a:latin typeface="Arial"/>
                <a:ea typeface="Arial"/>
                <a:cs typeface="Arial"/>
              </a:rPr>
              <a:t>Travel Constraint</a:t>
            </a:r>
          </a:p>
          <a:p xmlns:a="http://schemas.openxmlformats.org/drawingml/2006/main">
            <a:pPr>
              <a:defRPr sz="5550" b="1">
                <a:solidFill>
                  <a:srgbClr val="18362F"/>
                </a:solidFill>
                <a:latin typeface="Arial"/>
                <a:ea typeface="Arial"/>
                <a:cs typeface="Arial"/>
              </a:defRPr>
            </a:pPr>
            <a:r>
              <a:rPr sz="5550" b="1">
                <a:solidFill>
                  <a:srgbClr val="18362F"/>
                </a:solidFill>
                <a:latin typeface="Arial"/>
                <a:ea typeface="Arial"/>
                <a:cs typeface="Arial"/>
              </a:rPr>
              <a:t>Extraction</a:t>
            </a:r>
          </a:p>
        </p:txBody>
      </p:sp>
      <p:sp>
        <p:nvSpPr>
          <p:cNvPr id="6" name="">
            <a:extLst xmlns:a="http://schemas.openxmlformats.org/drawingml/2006/main">
              <a:ext uri="{FF2B5EF4-FFF2-40B4-BE49-F238E27FC236}">
                <a16:creationId xmlns:a16="http://schemas.microsoft.com/office/drawing/2014/main" id="{F2B3355B-8009-4252-861C-2FFE5F1B65C3}"/>
              </a:ext>
            </a:extLst>
          </p:cNvPr>
          <p:cNvSpPr>
            <a:spLocks xmlns:a="http://schemas.openxmlformats.org/drawingml/2006/main" noGrp="1"/>
          </p:cNvSpPr>
          <p:nvPr/>
        </p:nvSpPr>
        <p:spPr>
          <a:xfrm xmlns:a="http://schemas.openxmlformats.org/drawingml/2006/main">
            <a:off x="647700" y="35052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5D51"/>
                </a:solidFill>
                <a:latin typeface="Arial"/>
                <a:ea typeface="Arial"/>
                <a:cs typeface="Arial"/>
              </a:defRPr>
            </a:defPPr>
            <a:lvl1pPr>
              <a:defRPr sz="2400" b="0">
                <a:solidFill>
                  <a:srgbClr val="245D51"/>
                </a:solidFill>
                <a:latin typeface="Arial"/>
                <a:ea typeface="Arial"/>
                <a:cs typeface="Arial"/>
              </a:defRPr>
            </a:lvl1pPr>
            <a:lvl2pPr>
              <a:defRPr sz="2400" b="0">
                <a:solidFill>
                  <a:srgbClr val="245D51"/>
                </a:solidFill>
                <a:latin typeface="Arial"/>
                <a:ea typeface="Arial"/>
                <a:cs typeface="Arial"/>
              </a:defRPr>
            </a:lvl2pPr>
            <a:lvl3pPr>
              <a:defRPr sz="2400" b="0">
                <a:solidFill>
                  <a:srgbClr val="245D51"/>
                </a:solidFill>
                <a:latin typeface="Arial"/>
                <a:ea typeface="Arial"/>
                <a:cs typeface="Arial"/>
              </a:defRPr>
            </a:lvl3pPr>
            <a:lvl4pPr>
              <a:defRPr sz="2400" b="0">
                <a:solidFill>
                  <a:srgbClr val="245D51"/>
                </a:solidFill>
                <a:latin typeface="Arial"/>
                <a:ea typeface="Arial"/>
                <a:cs typeface="Arial"/>
              </a:defRPr>
            </a:lvl4pPr>
            <a:lvl5pPr>
              <a:defRPr sz="2400" b="0">
                <a:solidFill>
                  <a:srgbClr val="245D51"/>
                </a:solidFill>
                <a:latin typeface="Arial"/>
                <a:ea typeface="Arial"/>
                <a:cs typeface="Arial"/>
              </a:defRPr>
            </a:lvl5pPr>
            <a:lvl6pPr>
              <a:defRPr sz="2400" b="0">
                <a:solidFill>
                  <a:srgbClr val="245D51"/>
                </a:solidFill>
                <a:latin typeface="Arial"/>
                <a:ea typeface="Arial"/>
                <a:cs typeface="Arial"/>
              </a:defRPr>
            </a:lvl6pPr>
            <a:lvl7pPr>
              <a:defRPr sz="2400" b="0">
                <a:solidFill>
                  <a:srgbClr val="245D51"/>
                </a:solidFill>
                <a:latin typeface="Arial"/>
                <a:ea typeface="Arial"/>
                <a:cs typeface="Arial"/>
              </a:defRPr>
            </a:lvl7pPr>
            <a:lvl8pPr>
              <a:defRPr sz="2400" b="0">
                <a:solidFill>
                  <a:srgbClr val="245D51"/>
                </a:solidFill>
                <a:latin typeface="Arial"/>
                <a:ea typeface="Arial"/>
                <a:cs typeface="Arial"/>
              </a:defRPr>
            </a:lvl8pPr>
            <a:lvl9pPr>
              <a:defRPr sz="2400" b="0">
                <a:solidFill>
                  <a:srgbClr val="245D51"/>
                </a:solidFill>
                <a:latin typeface="Arial"/>
                <a:ea typeface="Arial"/>
                <a:cs typeface="Arial"/>
              </a:defRPr>
            </a:lvl9pPr>
          </a:lstStyle>
          <a:p xmlns:a="http://schemas.openxmlformats.org/drawingml/2006/main">
            <a:pPr>
              <a:defRPr sz="2400" b="0">
                <a:solidFill>
                  <a:srgbClr val="245D51"/>
                </a:solidFill>
                <a:latin typeface="Arial"/>
                <a:ea typeface="Arial"/>
                <a:cs typeface="Arial"/>
              </a:defRPr>
            </a:pPr>
            <a:r>
              <a:rPr sz="2400" b="0">
                <a:solidFill>
                  <a:srgbClr val="245D51"/>
                </a:solidFill>
                <a:latin typeface="Arial"/>
                <a:ea typeface="Arial"/>
                <a:cs typeface="Arial"/>
              </a:rPr>
              <a:t>Fine-tuning a small Transformer to understand</a:t>
            </a:r>
          </a:p>
          <a:p xmlns:a="http://schemas.openxmlformats.org/drawingml/2006/main">
            <a:pPr>
              <a:defRPr sz="2400" b="0">
                <a:solidFill>
                  <a:srgbClr val="245D51"/>
                </a:solidFill>
                <a:latin typeface="Arial"/>
                <a:ea typeface="Arial"/>
                <a:cs typeface="Arial"/>
              </a:defRPr>
            </a:pPr>
            <a:r>
              <a:rPr sz="2400" b="0">
                <a:solidFill>
                  <a:srgbClr val="245D51"/>
                </a:solidFill>
                <a:latin typeface="Arial"/>
                <a:ea typeface="Arial"/>
                <a:cs typeface="Arial"/>
              </a:rPr>
              <a:t>changes to a London itinerary</a:t>
            </a:r>
          </a:p>
        </p:txBody>
      </p:sp>
      <p:sp>
        <p:nvSpPr>
          <p:cNvPr id="7" name="">
            <a:extLst xmlns:a="http://schemas.openxmlformats.org/drawingml/2006/main">
              <a:ext uri="{FF2B5EF4-FFF2-40B4-BE49-F238E27FC236}">
                <a16:creationId xmlns:a16="http://schemas.microsoft.com/office/drawing/2014/main" id="{6B39D808-0DE0-4982-BF88-ADA8000CE944}"/>
              </a:ext>
            </a:extLst>
          </p:cNvPr>
          <p:cNvSpPr>
            <a:spLocks xmlns:a="http://schemas.openxmlformats.org/drawingml/2006/main" noGrp="1"/>
          </p:cNvSpPr>
          <p:nvPr/>
        </p:nvSpPr>
        <p:spPr>
          <a:xfrm xmlns:a="http://schemas.openxmlformats.org/drawingml/2006/main">
            <a:off x="609600" y="4905375"/>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0CB2CA1-59B3-48B9-9A37-AF2528EF600F}"/>
              </a:ext>
            </a:extLst>
          </p:cNvPr>
          <p:cNvSpPr>
            <a:spLocks xmlns:a="http://schemas.openxmlformats.org/drawingml/2006/main" noGrp="1"/>
          </p:cNvSpPr>
          <p:nvPr/>
        </p:nvSpPr>
        <p:spPr>
          <a:xfrm xmlns:a="http://schemas.openxmlformats.org/drawingml/2006/main">
            <a:off x="647700" y="5219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62F"/>
                </a:solidFill>
                <a:latin typeface="Arial"/>
                <a:ea typeface="Arial"/>
                <a:cs typeface="Arial"/>
              </a:defRPr>
            </a:defPPr>
            <a:lvl1pPr>
              <a:defRPr sz="1950" b="0">
                <a:solidFill>
                  <a:srgbClr val="18362F"/>
                </a:solidFill>
                <a:latin typeface="Arial"/>
                <a:ea typeface="Arial"/>
                <a:cs typeface="Arial"/>
              </a:defRPr>
            </a:lvl1pPr>
            <a:lvl2pPr>
              <a:defRPr sz="1950" b="0">
                <a:solidFill>
                  <a:srgbClr val="18362F"/>
                </a:solidFill>
                <a:latin typeface="Arial"/>
                <a:ea typeface="Arial"/>
                <a:cs typeface="Arial"/>
              </a:defRPr>
            </a:lvl2pPr>
            <a:lvl3pPr>
              <a:defRPr sz="1950" b="0">
                <a:solidFill>
                  <a:srgbClr val="18362F"/>
                </a:solidFill>
                <a:latin typeface="Arial"/>
                <a:ea typeface="Arial"/>
                <a:cs typeface="Arial"/>
              </a:defRPr>
            </a:lvl3pPr>
            <a:lvl4pPr>
              <a:defRPr sz="1950" b="0">
                <a:solidFill>
                  <a:srgbClr val="18362F"/>
                </a:solidFill>
                <a:latin typeface="Arial"/>
                <a:ea typeface="Arial"/>
                <a:cs typeface="Arial"/>
              </a:defRPr>
            </a:lvl4pPr>
            <a:lvl5pPr>
              <a:defRPr sz="1950" b="0">
                <a:solidFill>
                  <a:srgbClr val="18362F"/>
                </a:solidFill>
                <a:latin typeface="Arial"/>
                <a:ea typeface="Arial"/>
                <a:cs typeface="Arial"/>
              </a:defRPr>
            </a:lvl5pPr>
            <a:lvl6pPr>
              <a:defRPr sz="1950" b="0">
                <a:solidFill>
                  <a:srgbClr val="18362F"/>
                </a:solidFill>
                <a:latin typeface="Arial"/>
                <a:ea typeface="Arial"/>
                <a:cs typeface="Arial"/>
              </a:defRPr>
            </a:lvl6pPr>
            <a:lvl7pPr>
              <a:defRPr sz="1950" b="0">
                <a:solidFill>
                  <a:srgbClr val="18362F"/>
                </a:solidFill>
                <a:latin typeface="Arial"/>
                <a:ea typeface="Arial"/>
                <a:cs typeface="Arial"/>
              </a:defRPr>
            </a:lvl7pPr>
            <a:lvl8pPr>
              <a:defRPr sz="1950" b="0">
                <a:solidFill>
                  <a:srgbClr val="18362F"/>
                </a:solidFill>
                <a:latin typeface="Arial"/>
                <a:ea typeface="Arial"/>
                <a:cs typeface="Arial"/>
              </a:defRPr>
            </a:lvl8pPr>
            <a:lvl9pPr>
              <a:defRPr sz="1950" b="0">
                <a:solidFill>
                  <a:srgbClr val="18362F"/>
                </a:solidFill>
                <a:latin typeface="Arial"/>
                <a:ea typeface="Arial"/>
                <a:cs typeface="Arial"/>
              </a:defRPr>
            </a:lvl9pPr>
          </a:lstStyle>
          <a:p xmlns:a="http://schemas.openxmlformats.org/drawingml/2006/main">
            <a:pPr>
              <a:defRPr sz="1950" b="0">
                <a:solidFill>
                  <a:srgbClr val="18362F"/>
                </a:solidFill>
                <a:latin typeface="Arial"/>
                <a:ea typeface="Arial"/>
                <a:cs typeface="Arial"/>
              </a:defRPr>
            </a:pPr>
            <a:r>
              <a:rPr sz="1950" b="0">
                <a:solidFill>
                  <a:srgbClr val="18362F"/>
                </a:solidFill>
                <a:latin typeface="Arial"/>
                <a:ea typeface="Arial"/>
                <a:cs typeface="Arial"/>
              </a:rPr>
              <a:t>A 400-example dataset for structured extraction</a:t>
            </a:r>
          </a:p>
        </p:txBody>
      </p:sp>
    </p:spTree>
    <p:extLst>
      <p:ext uri="{BB962C8B-B14F-4D97-AF65-F5344CB8AC3E}">
        <p14:creationId xmlns:p14="http://schemas.microsoft.com/office/powerpoint/2010/main" val="1153767284"/>
      </p:ext>
    </p:extLst>
  </p:cSld>
</p:sld>
</file>

<file path=ppt/slides/slide2.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D18014-75DB-4151-822B-A93D55C72D0E}"/>
              </a:ext>
            </a:extLst>
          </p:cNvPr>
          <p:cNvSpPr>
            <a:spLocks xmlns:a="http://schemas.openxmlformats.org/drawingml/2006/main" noGrp="1"/>
          </p:cNvSpPr>
          <p:nvPr/>
        </p:nvSpPr>
        <p:spPr>
          <a:xfrm xmlns:a="http://schemas.openxmlformats.org/drawingml/2006/main">
            <a:off x="609600" y="266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RECENT AREAS OF AI  /  HYOJIN LEE</a:t>
            </a:r>
          </a:p>
        </p:txBody>
      </p:sp>
      <p:sp>
        <p:nvSpPr>
          <p:cNvPr id="2" name="">
            <a:extLst xmlns:a="http://schemas.openxmlformats.org/drawingml/2006/main">
              <a:ext uri="{FF2B5EF4-FFF2-40B4-BE49-F238E27FC236}">
                <a16:creationId xmlns:a16="http://schemas.microsoft.com/office/drawing/2014/main" id="{DADEBC14-E8CF-45C6-A661-963C1CF3E1CC}"/>
              </a:ext>
            </a:extLst>
          </p:cNvPr>
          <p:cNvSpPr>
            <a:spLocks xmlns:a="http://schemas.openxmlformats.org/drawingml/2006/main" noGrp="1"/>
          </p:cNvSpPr>
          <p:nvPr/>
        </p:nvSpPr>
        <p:spPr>
          <a:xfrm xmlns:a="http://schemas.openxmlformats.org/drawingml/2006/main">
            <a:off x="10972800" y="2667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48304DD-8069-4494-8B37-7757EFF225AB}"/>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62F"/>
                </a:solidFill>
                <a:latin typeface="Arial"/>
                <a:ea typeface="Arial"/>
                <a:cs typeface="Arial"/>
              </a:defRPr>
            </a:defPPr>
            <a:lvl1pPr>
              <a:defRPr sz="3300" b="1">
                <a:solidFill>
                  <a:srgbClr val="18362F"/>
                </a:solidFill>
                <a:latin typeface="Arial"/>
                <a:ea typeface="Arial"/>
                <a:cs typeface="Arial"/>
              </a:defRPr>
            </a:lvl1pPr>
            <a:lvl2pPr>
              <a:defRPr sz="3300" b="1">
                <a:solidFill>
                  <a:srgbClr val="18362F"/>
                </a:solidFill>
                <a:latin typeface="Arial"/>
                <a:ea typeface="Arial"/>
                <a:cs typeface="Arial"/>
              </a:defRPr>
            </a:lvl2pPr>
            <a:lvl3pPr>
              <a:defRPr sz="3300" b="1">
                <a:solidFill>
                  <a:srgbClr val="18362F"/>
                </a:solidFill>
                <a:latin typeface="Arial"/>
                <a:ea typeface="Arial"/>
                <a:cs typeface="Arial"/>
              </a:defRPr>
            </a:lvl3pPr>
            <a:lvl4pPr>
              <a:defRPr sz="3300" b="1">
                <a:solidFill>
                  <a:srgbClr val="18362F"/>
                </a:solidFill>
                <a:latin typeface="Arial"/>
                <a:ea typeface="Arial"/>
                <a:cs typeface="Arial"/>
              </a:defRPr>
            </a:lvl4pPr>
            <a:lvl5pPr>
              <a:defRPr sz="3300" b="1">
                <a:solidFill>
                  <a:srgbClr val="18362F"/>
                </a:solidFill>
                <a:latin typeface="Arial"/>
                <a:ea typeface="Arial"/>
                <a:cs typeface="Arial"/>
              </a:defRPr>
            </a:lvl5pPr>
            <a:lvl6pPr>
              <a:defRPr sz="3300" b="1">
                <a:solidFill>
                  <a:srgbClr val="18362F"/>
                </a:solidFill>
                <a:latin typeface="Arial"/>
                <a:ea typeface="Arial"/>
                <a:cs typeface="Arial"/>
              </a:defRPr>
            </a:lvl6pPr>
            <a:lvl7pPr>
              <a:defRPr sz="3300" b="1">
                <a:solidFill>
                  <a:srgbClr val="18362F"/>
                </a:solidFill>
                <a:latin typeface="Arial"/>
                <a:ea typeface="Arial"/>
                <a:cs typeface="Arial"/>
              </a:defRPr>
            </a:lvl7pPr>
            <a:lvl8pPr>
              <a:defRPr sz="3300" b="1">
                <a:solidFill>
                  <a:srgbClr val="18362F"/>
                </a:solidFill>
                <a:latin typeface="Arial"/>
                <a:ea typeface="Arial"/>
                <a:cs typeface="Arial"/>
              </a:defRPr>
            </a:lvl8pPr>
            <a:lvl9pPr>
              <a:defRPr sz="3300" b="1">
                <a:solidFill>
                  <a:srgbClr val="18362F"/>
                </a:solidFill>
                <a:latin typeface="Arial"/>
                <a:ea typeface="Arial"/>
                <a:cs typeface="Arial"/>
              </a:defRPr>
            </a:lvl9pPr>
          </a:lstStyle>
          <a:p xmlns:a="http://schemas.openxmlformats.org/drawingml/2006/main">
            <a:pPr>
              <a:defRPr sz="3300" b="1">
                <a:solidFill>
                  <a:srgbClr val="18362F"/>
                </a:solidFill>
                <a:latin typeface="Arial"/>
                <a:ea typeface="Arial"/>
                <a:cs typeface="Arial"/>
              </a:defRPr>
            </a:pPr>
            <a:r>
              <a:rPr sz="3300" b="1">
                <a:solidFill>
                  <a:srgbClr val="18362F"/>
                </a:solidFill>
                <a:latin typeface="Arial"/>
                <a:ea typeface="Arial"/>
                <a:cs typeface="Arial"/>
              </a:rPr>
              <a:t>Task and output contract</a:t>
            </a:r>
          </a:p>
        </p:txBody>
      </p:sp>
      <p:sp>
        <p:nvSpPr>
          <p:cNvPr id="4" name="">
            <a:extLst xmlns:a="http://schemas.openxmlformats.org/drawingml/2006/main">
              <a:ext uri="{FF2B5EF4-FFF2-40B4-BE49-F238E27FC236}">
                <a16:creationId xmlns:a16="http://schemas.microsoft.com/office/drawing/2014/main" id="{DE199531-DAA1-4FAD-BBC6-65D3D7E42A20}"/>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627444-140B-4614-84A6-A4C9E03B0C1B}"/>
              </a:ext>
            </a:extLst>
          </p:cNvPr>
          <p:cNvSpPr>
            <a:spLocks xmlns:a="http://schemas.openxmlformats.org/drawingml/2006/main" noGrp="1"/>
          </p:cNvSpPr>
          <p:nvPr/>
        </p:nvSpPr>
        <p:spPr>
          <a:xfrm xmlns:a="http://schemas.openxmlformats.org/drawingml/2006/main">
            <a:off x="609600" y="64674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F7168"/>
                </a:solidFill>
                <a:latin typeface="Arial"/>
                <a:ea typeface="Arial"/>
                <a:cs typeface="Arial"/>
              </a:defRPr>
            </a:defPPr>
            <a:lvl1pPr>
              <a:defRPr sz="1050" b="0">
                <a:solidFill>
                  <a:srgbClr val="5F7168"/>
                </a:solidFill>
                <a:latin typeface="Arial"/>
                <a:ea typeface="Arial"/>
                <a:cs typeface="Arial"/>
              </a:defRPr>
            </a:lvl1pPr>
            <a:lvl2pPr>
              <a:defRPr sz="1050" b="0">
                <a:solidFill>
                  <a:srgbClr val="5F7168"/>
                </a:solidFill>
                <a:latin typeface="Arial"/>
                <a:ea typeface="Arial"/>
                <a:cs typeface="Arial"/>
              </a:defRPr>
            </a:lvl2pPr>
            <a:lvl3pPr>
              <a:defRPr sz="1050" b="0">
                <a:solidFill>
                  <a:srgbClr val="5F7168"/>
                </a:solidFill>
                <a:latin typeface="Arial"/>
                <a:ea typeface="Arial"/>
                <a:cs typeface="Arial"/>
              </a:defRPr>
            </a:lvl3pPr>
            <a:lvl4pPr>
              <a:defRPr sz="1050" b="0">
                <a:solidFill>
                  <a:srgbClr val="5F7168"/>
                </a:solidFill>
                <a:latin typeface="Arial"/>
                <a:ea typeface="Arial"/>
                <a:cs typeface="Arial"/>
              </a:defRPr>
            </a:lvl4pPr>
            <a:lvl5pPr>
              <a:defRPr sz="1050" b="0">
                <a:solidFill>
                  <a:srgbClr val="5F7168"/>
                </a:solidFill>
                <a:latin typeface="Arial"/>
                <a:ea typeface="Arial"/>
                <a:cs typeface="Arial"/>
              </a:defRPr>
            </a:lvl5pPr>
            <a:lvl6pPr>
              <a:defRPr sz="1050" b="0">
                <a:solidFill>
                  <a:srgbClr val="5F7168"/>
                </a:solidFill>
                <a:latin typeface="Arial"/>
                <a:ea typeface="Arial"/>
                <a:cs typeface="Arial"/>
              </a:defRPr>
            </a:lvl6pPr>
            <a:lvl7pPr>
              <a:defRPr sz="1050" b="0">
                <a:solidFill>
                  <a:srgbClr val="5F7168"/>
                </a:solidFill>
                <a:latin typeface="Arial"/>
                <a:ea typeface="Arial"/>
                <a:cs typeface="Arial"/>
              </a:defRPr>
            </a:lvl7pPr>
            <a:lvl8pPr>
              <a:defRPr sz="1050" b="0">
                <a:solidFill>
                  <a:srgbClr val="5F7168"/>
                </a:solidFill>
                <a:latin typeface="Arial"/>
                <a:ea typeface="Arial"/>
                <a:cs typeface="Arial"/>
              </a:defRPr>
            </a:lvl8pPr>
            <a:lvl9pPr>
              <a:defRPr sz="1050" b="0">
                <a:solidFill>
                  <a:srgbClr val="5F7168"/>
                </a:solidFill>
                <a:latin typeface="Arial"/>
                <a:ea typeface="Arial"/>
                <a:cs typeface="Arial"/>
              </a:defRPr>
            </a:lvl9pPr>
          </a:lstStyle>
          <a:p xmlns:a="http://schemas.openxmlformats.org/drawingml/2006/main">
            <a:pPr>
              <a:defRPr sz="1050" b="0">
                <a:solidFill>
                  <a:srgbClr val="5F7168"/>
                </a:solidFill>
                <a:latin typeface="Arial"/>
                <a:ea typeface="Arial"/>
                <a:cs typeface="Arial"/>
              </a:defRPr>
            </a:pPr>
            <a:r>
              <a:rPr sz="1050" b="0">
                <a:solidFill>
                  <a:srgbClr val="5F7168"/>
                </a:solidFill>
                <a:latin typeface="Arial"/>
                <a:ea typeface="Arial"/>
                <a:cs typeface="Arial"/>
              </a:rPr>
              <a:t>Travel Constraint Extraction · 2026</a:t>
            </a:r>
          </a:p>
        </p:txBody>
      </p:sp>
      <p:sp>
        <p:nvSpPr>
          <p:cNvPr id="6" name="">
            <a:extLst xmlns:a="http://schemas.openxmlformats.org/drawingml/2006/main">
              <a:ext uri="{FF2B5EF4-FFF2-40B4-BE49-F238E27FC236}">
                <a16:creationId xmlns:a16="http://schemas.microsoft.com/office/drawing/2014/main" id="{D621AC6C-A5A9-4080-A3D0-5E14010B1EE6}"/>
              </a:ext>
            </a:extLst>
          </p:cNvPr>
          <p:cNvSpPr>
            <a:spLocks xmlns:a="http://schemas.openxmlformats.org/drawingml/2006/main" noGrp="1"/>
          </p:cNvSpPr>
          <p:nvPr/>
        </p:nvSpPr>
        <p:spPr>
          <a:xfrm xmlns:a="http://schemas.openxmlformats.org/drawingml/2006/main">
            <a:off x="609600" y="15811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245D51"/>
                </a:solidFill>
                <a:latin typeface="Arial"/>
                <a:ea typeface="Arial"/>
                <a:cs typeface="Arial"/>
              </a:defRPr>
            </a:defPPr>
            <a:lvl1pPr>
              <a:defRPr sz="2475" b="0">
                <a:solidFill>
                  <a:srgbClr val="245D51"/>
                </a:solidFill>
                <a:latin typeface="Arial"/>
                <a:ea typeface="Arial"/>
                <a:cs typeface="Arial"/>
              </a:defRPr>
            </a:lvl1pPr>
            <a:lvl2pPr>
              <a:defRPr sz="2475" b="0">
                <a:solidFill>
                  <a:srgbClr val="245D51"/>
                </a:solidFill>
                <a:latin typeface="Arial"/>
                <a:ea typeface="Arial"/>
                <a:cs typeface="Arial"/>
              </a:defRPr>
            </a:lvl2pPr>
            <a:lvl3pPr>
              <a:defRPr sz="2475" b="0">
                <a:solidFill>
                  <a:srgbClr val="245D51"/>
                </a:solidFill>
                <a:latin typeface="Arial"/>
                <a:ea typeface="Arial"/>
                <a:cs typeface="Arial"/>
              </a:defRPr>
            </a:lvl3pPr>
            <a:lvl4pPr>
              <a:defRPr sz="2475" b="0">
                <a:solidFill>
                  <a:srgbClr val="245D51"/>
                </a:solidFill>
                <a:latin typeface="Arial"/>
                <a:ea typeface="Arial"/>
                <a:cs typeface="Arial"/>
              </a:defRPr>
            </a:lvl4pPr>
            <a:lvl5pPr>
              <a:defRPr sz="2475" b="0">
                <a:solidFill>
                  <a:srgbClr val="245D51"/>
                </a:solidFill>
                <a:latin typeface="Arial"/>
                <a:ea typeface="Arial"/>
                <a:cs typeface="Arial"/>
              </a:defRPr>
            </a:lvl5pPr>
            <a:lvl6pPr>
              <a:defRPr sz="2475" b="0">
                <a:solidFill>
                  <a:srgbClr val="245D51"/>
                </a:solidFill>
                <a:latin typeface="Arial"/>
                <a:ea typeface="Arial"/>
                <a:cs typeface="Arial"/>
              </a:defRPr>
            </a:lvl6pPr>
            <a:lvl7pPr>
              <a:defRPr sz="2475" b="0">
                <a:solidFill>
                  <a:srgbClr val="245D51"/>
                </a:solidFill>
                <a:latin typeface="Arial"/>
                <a:ea typeface="Arial"/>
                <a:cs typeface="Arial"/>
              </a:defRPr>
            </a:lvl7pPr>
            <a:lvl8pPr>
              <a:defRPr sz="2475" b="0">
                <a:solidFill>
                  <a:srgbClr val="245D51"/>
                </a:solidFill>
                <a:latin typeface="Arial"/>
                <a:ea typeface="Arial"/>
                <a:cs typeface="Arial"/>
              </a:defRPr>
            </a:lvl8pPr>
            <a:lvl9pPr>
              <a:defRPr sz="2475" b="0">
                <a:solidFill>
                  <a:srgbClr val="245D51"/>
                </a:solidFill>
                <a:latin typeface="Arial"/>
                <a:ea typeface="Arial"/>
                <a:cs typeface="Arial"/>
              </a:defRPr>
            </a:lvl9pPr>
          </a:lstStyle>
          <a:p xmlns:a="http://schemas.openxmlformats.org/drawingml/2006/main">
            <a:pPr>
              <a:defRPr sz="2475" b="0">
                <a:solidFill>
                  <a:srgbClr val="245D51"/>
                </a:solidFill>
                <a:latin typeface="Arial"/>
                <a:ea typeface="Arial"/>
                <a:cs typeface="Arial"/>
              </a:defRPr>
            </a:pPr>
            <a:r>
              <a:rPr sz="2475" b="0">
                <a:solidFill>
                  <a:srgbClr val="245D51"/>
                </a:solidFill>
                <a:latin typeface="Arial"/>
                <a:ea typeface="Arial"/>
                <a:cs typeface="Arial"/>
              </a:rPr>
              <a:t>“Keep the gallery. Be back by 19:00.</a:t>
            </a:r>
          </a:p>
          <a:p xmlns:a="http://schemas.openxmlformats.org/drawingml/2006/main">
            <a:pPr>
              <a:defRPr sz="2475" b="0">
                <a:solidFill>
                  <a:srgbClr val="245D51"/>
                </a:solidFill>
                <a:latin typeface="Arial"/>
                <a:ea typeface="Arial"/>
                <a:cs typeface="Arial"/>
              </a:defRPr>
            </a:pPr>
            <a:r>
              <a:rPr sz="2475" b="0">
                <a:solidFill>
                  <a:srgbClr val="245D51"/>
                </a:solidFill>
                <a:latin typeface="Arial"/>
                <a:ea typeface="Arial"/>
                <a:cs typeface="Arial"/>
              </a:rPr>
              <a:t>I would prefer less walking.”</a:t>
            </a:r>
          </a:p>
        </p:txBody>
      </p:sp>
      <p:graphicFrame>
        <p:nvGraphicFramePr>
          <p:cNvPr id="7" name="">
            <a:extLst xmlns:a="http://schemas.openxmlformats.org/drawingml/2006/main">
              <a:ext uri="{FF2B5EF4-FFF2-40B4-BE49-F238E27FC236}">
                <a16:creationId xmlns:a16="http://schemas.microsoft.com/office/drawing/2014/main" id="{E0CE5F09-8990-4784-A71C-B9F80B477733}"/>
              </a:ext>
            </a:extLst>
          </p:cNvPr>
          <p:cNvGraphicFramePr/>
          <p:nvPr/>
        </p:nvGraphicFramePr>
        <p:xfrm>
          <a:off xmlns:a="http://schemas.openxmlformats.org/drawingml/2006/main" x="609600" y="2733675"/>
          <a:ext xmlns:a="http://schemas.openxmlformats.org/drawingml/2006/main" cx="10972800" cy="2476500"/>
        </p:xfrm>
        <a:graphic xmlns:a="http://schemas.openxmlformats.org/drawingml/2006/main">
          <a:graphicData uri="http://schemas.openxmlformats.org/drawingml/2006/table">
            <a:tbl>
              <a:tblPr/>
              <a:tblGrid>
                <a:gridCol w="3286125"/>
                <a:gridCol w="5591175"/>
                <a:gridCol w="2095500"/>
              </a:tblGrid>
              <a:tr h="619125">
                <a:tc>
                  <a:txBody>
                    <a:bodyPr/>
                    <a:lstStyle/>
                    <a:p>
                      <a:r>
                        <a:rPr sz="1725" b="1">
                          <a:solidFill>
                            <a:srgbClr val="FFFFFF"/>
                          </a:solidFill>
                          <a:latin typeface="Arial"/>
                          <a:ea typeface="Arial"/>
                          <a:cs typeface="Arial"/>
                        </a:rPr>
                        <a:t>Meaning</a:t>
                      </a:r>
                    </a:p>
                  </a:txBody>
                  <a:tcPr marL="91440" marR="91440" marT="45720" marB="45720">
                    <a:lnL w="6668">
                      <a:solidFill>
                        <a:srgbClr val="D6DDD3"/>
                      </a:solidFill>
                      <a:prstDash val="solid"/>
                    </a:lnL>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c>
                  <a:txBody>
                    <a:bodyPr/>
                    <a:lstStyle/>
                    <a:p>
                      <a:r>
                        <a:rPr sz="1725" b="1">
                          <a:solidFill>
                            <a:srgbClr val="FFFFFF"/>
                          </a:solidFill>
                          <a:latin typeface="Arial"/>
                          <a:ea typeface="Arial"/>
                          <a:cs typeface="Arial"/>
                        </a:rPr>
                        <a:t>Structured output</a:t>
                      </a:r>
                    </a:p>
                  </a:txBody>
                  <a:tcPr marL="91440" marR="91440" marT="45720" marB="45720">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c>
                  <a:txBody>
                    <a:bodyPr/>
                    <a:lstStyle/>
                    <a:p>
                      <a:r>
                        <a:rPr sz="1725" b="1">
                          <a:solidFill>
                            <a:srgbClr val="FFFFFF"/>
                          </a:solidFill>
                          <a:latin typeface="Arial"/>
                          <a:ea typeface="Arial"/>
                          <a:cs typeface="Arial"/>
                        </a:rPr>
                        <a:t>Priority</a:t>
                      </a:r>
                    </a:p>
                  </a:txBody>
                  <a:tcPr marL="91440" marR="91440" marT="45720" marB="45720">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r>
              <a:tr h="619125">
                <a:tc>
                  <a:txBody>
                    <a:bodyPr/>
                    <a:lstStyle/>
                    <a:p>
                      <a:r>
                        <a:rPr sz="1875" b="0">
                          <a:solidFill>
                            <a:srgbClr val="18362F"/>
                          </a:solidFill>
                          <a:latin typeface="Arial"/>
                          <a:ea typeface="Arial"/>
                          <a:cs typeface="Arial"/>
                        </a:rPr>
                        <a:t>Keep the gallery</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F6F6EF"/>
                    </a:solidFill>
                  </a:tcPr>
                </a:tc>
                <a:tc>
                  <a:txBody>
                    <a:bodyPr/>
                    <a:lstStyle/>
                    <a:p>
                      <a:r>
                        <a:rPr sz="1875" b="0">
                          <a:solidFill>
                            <a:srgbClr val="18362F"/>
                          </a:solidFill>
                          <a:latin typeface="Arial"/>
                          <a:ea typeface="Arial"/>
                          <a:cs typeface="Arial"/>
                        </a:rPr>
                        <a:t>Include the resolved place</a:t>
                      </a:r>
                    </a:p>
                  </a:txBody>
                  <a:tcPr marL="91440" marR="91440" marT="45720" marB="45720">
                    <a:lnR w="6668">
                      <a:solidFill>
                        <a:srgbClr val="D6DDD3"/>
                      </a:solidFill>
                      <a:prstDash val="solid"/>
                    </a:lnR>
                    <a:lnB w="6668">
                      <a:solidFill>
                        <a:srgbClr val="D6DDD3"/>
                      </a:solidFill>
                      <a:prstDash val="solid"/>
                    </a:lnB>
                    <a:solidFill>
                      <a:srgbClr val="F6F6EF"/>
                    </a:solidFill>
                  </a:tcPr>
                </a:tc>
                <a:tc>
                  <a:txBody>
                    <a:bodyPr/>
                    <a:lstStyle/>
                    <a:p>
                      <a:r>
                        <a:rPr sz="1875" b="0">
                          <a:solidFill>
                            <a:srgbClr val="18362F"/>
                          </a:solidFill>
                          <a:latin typeface="Arial"/>
                          <a:ea typeface="Arial"/>
                          <a:cs typeface="Arial"/>
                        </a:rPr>
                        <a:t>Hard</a:t>
                      </a:r>
                    </a:p>
                  </a:txBody>
                  <a:tcPr marL="91440" marR="91440" marT="45720" marB="45720">
                    <a:lnR w="6668">
                      <a:solidFill>
                        <a:srgbClr val="D6DDD3"/>
                      </a:solidFill>
                      <a:prstDash val="solid"/>
                    </a:lnR>
                    <a:lnB w="6668">
                      <a:solidFill>
                        <a:srgbClr val="D6DDD3"/>
                      </a:solidFill>
                      <a:prstDash val="solid"/>
                    </a:lnB>
                    <a:solidFill>
                      <a:srgbClr val="F6F6EF"/>
                    </a:solidFill>
                  </a:tcPr>
                </a:tc>
              </a:tr>
              <a:tr h="619125">
                <a:tc>
                  <a:txBody>
                    <a:bodyPr/>
                    <a:lstStyle/>
                    <a:p>
                      <a:r>
                        <a:rPr sz="1875" b="0">
                          <a:solidFill>
                            <a:srgbClr val="18362F"/>
                          </a:solidFill>
                          <a:latin typeface="Arial"/>
                          <a:ea typeface="Arial"/>
                          <a:cs typeface="Arial"/>
                        </a:rPr>
                        <a:t>Return by 19:00</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E5EDE3"/>
                    </a:solidFill>
                  </a:tcPr>
                </a:tc>
                <a:tc>
                  <a:txBody>
                    <a:bodyPr/>
                    <a:lstStyle/>
                    <a:p>
                      <a:r>
                        <a:rPr sz="1875" b="0">
                          <a:solidFill>
                            <a:srgbClr val="18362F"/>
                          </a:solidFill>
                          <a:latin typeface="Arial"/>
                          <a:ea typeface="Arial"/>
                          <a:cs typeface="Arial"/>
                        </a:rPr>
                        <a:t>hotel_return &lt;= 19:00</a:t>
                      </a:r>
                    </a:p>
                  </a:txBody>
                  <a:tcPr marL="91440" marR="91440" marT="45720" marB="45720">
                    <a:lnR w="6668">
                      <a:solidFill>
                        <a:srgbClr val="D6DDD3"/>
                      </a:solidFill>
                      <a:prstDash val="solid"/>
                    </a:lnR>
                    <a:lnB w="6668">
                      <a:solidFill>
                        <a:srgbClr val="D6DDD3"/>
                      </a:solidFill>
                      <a:prstDash val="solid"/>
                    </a:lnB>
                    <a:solidFill>
                      <a:srgbClr val="E5EDE3"/>
                    </a:solidFill>
                  </a:tcPr>
                </a:tc>
                <a:tc>
                  <a:txBody>
                    <a:bodyPr/>
                    <a:lstStyle/>
                    <a:p>
                      <a:r>
                        <a:rPr sz="1875" b="0">
                          <a:solidFill>
                            <a:srgbClr val="18362F"/>
                          </a:solidFill>
                          <a:latin typeface="Arial"/>
                          <a:ea typeface="Arial"/>
                          <a:cs typeface="Arial"/>
                        </a:rPr>
                        <a:t>Hard</a:t>
                      </a:r>
                    </a:p>
                  </a:txBody>
                  <a:tcPr marL="91440" marR="91440" marT="45720" marB="45720">
                    <a:lnR w="6668">
                      <a:solidFill>
                        <a:srgbClr val="D6DDD3"/>
                      </a:solidFill>
                      <a:prstDash val="solid"/>
                    </a:lnR>
                    <a:lnB w="6668">
                      <a:solidFill>
                        <a:srgbClr val="D6DDD3"/>
                      </a:solidFill>
                      <a:prstDash val="solid"/>
                    </a:lnB>
                    <a:solidFill>
                      <a:srgbClr val="E5EDE3"/>
                    </a:solidFill>
                  </a:tcPr>
                </a:tc>
              </a:tr>
              <a:tr h="619125">
                <a:tc>
                  <a:txBody>
                    <a:bodyPr/>
                    <a:lstStyle/>
                    <a:p>
                      <a:r>
                        <a:rPr sz="1875" b="0">
                          <a:solidFill>
                            <a:srgbClr val="18362F"/>
                          </a:solidFill>
                          <a:latin typeface="Arial"/>
                          <a:ea typeface="Arial"/>
                          <a:cs typeface="Arial"/>
                        </a:rPr>
                        <a:t>Less walking</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F6F6EF"/>
                    </a:solidFill>
                  </a:tcPr>
                </a:tc>
                <a:tc>
                  <a:txBody>
                    <a:bodyPr/>
                    <a:lstStyle/>
                    <a:p>
                      <a:r>
                        <a:rPr sz="1875" b="0">
                          <a:solidFill>
                            <a:srgbClr val="18362F"/>
                          </a:solidFill>
                          <a:latin typeface="Arial"/>
                          <a:ea typeface="Arial"/>
                          <a:cs typeface="Arial"/>
                        </a:rPr>
                        <a:t>walking_amount: minimize</a:t>
                      </a:r>
                    </a:p>
                  </a:txBody>
                  <a:tcPr marL="91440" marR="91440" marT="45720" marB="45720">
                    <a:lnR w="6668">
                      <a:solidFill>
                        <a:srgbClr val="D6DDD3"/>
                      </a:solidFill>
                      <a:prstDash val="solid"/>
                    </a:lnR>
                    <a:lnB w="6668">
                      <a:solidFill>
                        <a:srgbClr val="D6DDD3"/>
                      </a:solidFill>
                      <a:prstDash val="solid"/>
                    </a:lnB>
                    <a:solidFill>
                      <a:srgbClr val="F6F6EF"/>
                    </a:solidFill>
                  </a:tcPr>
                </a:tc>
                <a:tc>
                  <a:txBody>
                    <a:bodyPr/>
                    <a:lstStyle/>
                    <a:p>
                      <a:r>
                        <a:rPr sz="1875" b="0">
                          <a:solidFill>
                            <a:srgbClr val="18362F"/>
                          </a:solidFill>
                          <a:latin typeface="Arial"/>
                          <a:ea typeface="Arial"/>
                          <a:cs typeface="Arial"/>
                        </a:rPr>
                        <a:t>Soft</a:t>
                      </a:r>
                    </a:p>
                  </a:txBody>
                  <a:tcPr marL="91440" marR="91440" marT="45720" marB="45720">
                    <a:lnR w="6668">
                      <a:solidFill>
                        <a:srgbClr val="D6DDD3"/>
                      </a:solidFill>
                      <a:prstDash val="solid"/>
                    </a:lnR>
                    <a:lnB w="6668">
                      <a:solidFill>
                        <a:srgbClr val="D6DDD3"/>
                      </a:solidFill>
                      <a:prstDash val="solid"/>
                    </a:lnB>
                    <a:solidFill>
                      <a:srgbClr val="F6F6EF"/>
                    </a:solidFill>
                  </a:tcPr>
                </a:tc>
              </a:tr>
            </a:tbl>
          </a:graphicData>
        </a:graphic>
      </p:graphicFrame>
      <p:sp>
        <p:nvSpPr>
          <p:cNvPr id="8" name="">
            <a:extLst xmlns:a="http://schemas.openxmlformats.org/drawingml/2006/main">
              <a:ext uri="{FF2B5EF4-FFF2-40B4-BE49-F238E27FC236}">
                <a16:creationId xmlns:a16="http://schemas.microsoft.com/office/drawing/2014/main" id="{A60040F5-1A25-4820-81FD-76171F3B6915}"/>
              </a:ext>
            </a:extLst>
          </p:cNvPr>
          <p:cNvSpPr>
            <a:spLocks xmlns:a="http://schemas.openxmlformats.org/drawingml/2006/main" noGrp="1"/>
          </p:cNvSpPr>
          <p:nvPr/>
        </p:nvSpPr>
        <p:spPr>
          <a:xfrm xmlns:a="http://schemas.openxmlformats.org/drawingml/2006/main">
            <a:off x="609600" y="55245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8362F"/>
                </a:solidFill>
                <a:latin typeface="Arial"/>
                <a:ea typeface="Arial"/>
                <a:cs typeface="Arial"/>
              </a:defRPr>
            </a:defPPr>
            <a:lvl1pPr>
              <a:defRPr sz="1950" b="1">
                <a:solidFill>
                  <a:srgbClr val="18362F"/>
                </a:solidFill>
                <a:latin typeface="Arial"/>
                <a:ea typeface="Arial"/>
                <a:cs typeface="Arial"/>
              </a:defRPr>
            </a:lvl1pPr>
            <a:lvl2pPr>
              <a:defRPr sz="1950" b="1">
                <a:solidFill>
                  <a:srgbClr val="18362F"/>
                </a:solidFill>
                <a:latin typeface="Arial"/>
                <a:ea typeface="Arial"/>
                <a:cs typeface="Arial"/>
              </a:defRPr>
            </a:lvl2pPr>
            <a:lvl3pPr>
              <a:defRPr sz="1950" b="1">
                <a:solidFill>
                  <a:srgbClr val="18362F"/>
                </a:solidFill>
                <a:latin typeface="Arial"/>
                <a:ea typeface="Arial"/>
                <a:cs typeface="Arial"/>
              </a:defRPr>
            </a:lvl3pPr>
            <a:lvl4pPr>
              <a:defRPr sz="1950" b="1">
                <a:solidFill>
                  <a:srgbClr val="18362F"/>
                </a:solidFill>
                <a:latin typeface="Arial"/>
                <a:ea typeface="Arial"/>
                <a:cs typeface="Arial"/>
              </a:defRPr>
            </a:lvl4pPr>
            <a:lvl5pPr>
              <a:defRPr sz="1950" b="1">
                <a:solidFill>
                  <a:srgbClr val="18362F"/>
                </a:solidFill>
                <a:latin typeface="Arial"/>
                <a:ea typeface="Arial"/>
                <a:cs typeface="Arial"/>
              </a:defRPr>
            </a:lvl5pPr>
            <a:lvl6pPr>
              <a:defRPr sz="1950" b="1">
                <a:solidFill>
                  <a:srgbClr val="18362F"/>
                </a:solidFill>
                <a:latin typeface="Arial"/>
                <a:ea typeface="Arial"/>
                <a:cs typeface="Arial"/>
              </a:defRPr>
            </a:lvl6pPr>
            <a:lvl7pPr>
              <a:defRPr sz="1950" b="1">
                <a:solidFill>
                  <a:srgbClr val="18362F"/>
                </a:solidFill>
                <a:latin typeface="Arial"/>
                <a:ea typeface="Arial"/>
                <a:cs typeface="Arial"/>
              </a:defRPr>
            </a:lvl7pPr>
            <a:lvl8pPr>
              <a:defRPr sz="1950" b="1">
                <a:solidFill>
                  <a:srgbClr val="18362F"/>
                </a:solidFill>
                <a:latin typeface="Arial"/>
                <a:ea typeface="Arial"/>
                <a:cs typeface="Arial"/>
              </a:defRPr>
            </a:lvl8pPr>
            <a:lvl9pPr>
              <a:defRPr sz="1950" b="1">
                <a:solidFill>
                  <a:srgbClr val="18362F"/>
                </a:solidFill>
                <a:latin typeface="Arial"/>
                <a:ea typeface="Arial"/>
                <a:cs typeface="Arial"/>
              </a:defRPr>
            </a:lvl9pPr>
          </a:lstStyle>
          <a:p xmlns:a="http://schemas.openxmlformats.org/drawingml/2006/main">
            <a:pPr>
              <a:defRPr sz="1950" b="1">
                <a:solidFill>
                  <a:srgbClr val="18362F"/>
                </a:solidFill>
                <a:latin typeface="Arial"/>
                <a:ea typeface="Arial"/>
                <a:cs typeface="Arial"/>
              </a:defRPr>
            </a:pPr>
            <a:r>
              <a:rPr sz="1950" b="1">
                <a:solidFill>
                  <a:srgbClr val="18362F"/>
                </a:solidFill>
                <a:latin typeface="Arial"/>
                <a:ea typeface="Arial"/>
                <a:cs typeface="Arial"/>
              </a:rPr>
              <a:t>Missing time or walking scope requires clarification</a:t>
            </a:r>
          </a:p>
        </p:txBody>
      </p:sp>
    </p:spTree>
    <p:extLst>
      <p:ext uri="{BB962C8B-B14F-4D97-AF65-F5344CB8AC3E}">
        <p14:creationId xmlns:p14="http://schemas.microsoft.com/office/powerpoint/2010/main" val="81167312"/>
      </p:ext>
    </p:extLst>
  </p:cSld>
</p:sld>
</file>

<file path=ppt/slides/slide3.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E508D9-B9BD-498D-932B-6A786530B8DC}"/>
              </a:ext>
            </a:extLst>
          </p:cNvPr>
          <p:cNvSpPr>
            <a:spLocks xmlns:a="http://schemas.openxmlformats.org/drawingml/2006/main" noGrp="1"/>
          </p:cNvSpPr>
          <p:nvPr/>
        </p:nvSpPr>
        <p:spPr>
          <a:xfrm xmlns:a="http://schemas.openxmlformats.org/drawingml/2006/main">
            <a:off x="609600" y="266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RECENT AREAS OF AI  /  HYOJIN LEE</a:t>
            </a:r>
          </a:p>
        </p:txBody>
      </p:sp>
      <p:sp>
        <p:nvSpPr>
          <p:cNvPr id="2" name="">
            <a:extLst xmlns:a="http://schemas.openxmlformats.org/drawingml/2006/main">
              <a:ext uri="{FF2B5EF4-FFF2-40B4-BE49-F238E27FC236}">
                <a16:creationId xmlns:a16="http://schemas.microsoft.com/office/drawing/2014/main" id="{E2B078F8-F891-49F8-8835-8FBFD76DC1B6}"/>
              </a:ext>
            </a:extLst>
          </p:cNvPr>
          <p:cNvSpPr>
            <a:spLocks xmlns:a="http://schemas.openxmlformats.org/drawingml/2006/main" noGrp="1"/>
          </p:cNvSpPr>
          <p:nvPr/>
        </p:nvSpPr>
        <p:spPr>
          <a:xfrm xmlns:a="http://schemas.openxmlformats.org/drawingml/2006/main">
            <a:off x="10972800" y="2667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0A98E0B-D4A0-467F-AE32-93B577B1B43E}"/>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62F"/>
                </a:solidFill>
                <a:latin typeface="Arial"/>
                <a:ea typeface="Arial"/>
                <a:cs typeface="Arial"/>
              </a:defRPr>
            </a:defPPr>
            <a:lvl1pPr>
              <a:defRPr sz="3300" b="1">
                <a:solidFill>
                  <a:srgbClr val="18362F"/>
                </a:solidFill>
                <a:latin typeface="Arial"/>
                <a:ea typeface="Arial"/>
                <a:cs typeface="Arial"/>
              </a:defRPr>
            </a:lvl1pPr>
            <a:lvl2pPr>
              <a:defRPr sz="3300" b="1">
                <a:solidFill>
                  <a:srgbClr val="18362F"/>
                </a:solidFill>
                <a:latin typeface="Arial"/>
                <a:ea typeface="Arial"/>
                <a:cs typeface="Arial"/>
              </a:defRPr>
            </a:lvl2pPr>
            <a:lvl3pPr>
              <a:defRPr sz="3300" b="1">
                <a:solidFill>
                  <a:srgbClr val="18362F"/>
                </a:solidFill>
                <a:latin typeface="Arial"/>
                <a:ea typeface="Arial"/>
                <a:cs typeface="Arial"/>
              </a:defRPr>
            </a:lvl3pPr>
            <a:lvl4pPr>
              <a:defRPr sz="3300" b="1">
                <a:solidFill>
                  <a:srgbClr val="18362F"/>
                </a:solidFill>
                <a:latin typeface="Arial"/>
                <a:ea typeface="Arial"/>
                <a:cs typeface="Arial"/>
              </a:defRPr>
            </a:lvl4pPr>
            <a:lvl5pPr>
              <a:defRPr sz="3300" b="1">
                <a:solidFill>
                  <a:srgbClr val="18362F"/>
                </a:solidFill>
                <a:latin typeface="Arial"/>
                <a:ea typeface="Arial"/>
                <a:cs typeface="Arial"/>
              </a:defRPr>
            </a:lvl5pPr>
            <a:lvl6pPr>
              <a:defRPr sz="3300" b="1">
                <a:solidFill>
                  <a:srgbClr val="18362F"/>
                </a:solidFill>
                <a:latin typeface="Arial"/>
                <a:ea typeface="Arial"/>
                <a:cs typeface="Arial"/>
              </a:defRPr>
            </a:lvl6pPr>
            <a:lvl7pPr>
              <a:defRPr sz="3300" b="1">
                <a:solidFill>
                  <a:srgbClr val="18362F"/>
                </a:solidFill>
                <a:latin typeface="Arial"/>
                <a:ea typeface="Arial"/>
                <a:cs typeface="Arial"/>
              </a:defRPr>
            </a:lvl7pPr>
            <a:lvl8pPr>
              <a:defRPr sz="3300" b="1">
                <a:solidFill>
                  <a:srgbClr val="18362F"/>
                </a:solidFill>
                <a:latin typeface="Arial"/>
                <a:ea typeface="Arial"/>
                <a:cs typeface="Arial"/>
              </a:defRPr>
            </a:lvl8pPr>
            <a:lvl9pPr>
              <a:defRPr sz="3300" b="1">
                <a:solidFill>
                  <a:srgbClr val="18362F"/>
                </a:solidFill>
                <a:latin typeface="Arial"/>
                <a:ea typeface="Arial"/>
                <a:cs typeface="Arial"/>
              </a:defRPr>
            </a:lvl9pPr>
          </a:lstStyle>
          <a:p xmlns:a="http://schemas.openxmlformats.org/drawingml/2006/main">
            <a:pPr>
              <a:defRPr sz="3300" b="1">
                <a:solidFill>
                  <a:srgbClr val="18362F"/>
                </a:solidFill>
                <a:latin typeface="Arial"/>
                <a:ea typeface="Arial"/>
                <a:cs typeface="Arial"/>
              </a:defRPr>
            </a:pPr>
            <a:r>
              <a:rPr sz="3300" b="1">
                <a:solidFill>
                  <a:srgbClr val="18362F"/>
                </a:solidFill>
                <a:latin typeface="Arial"/>
                <a:ea typeface="Arial"/>
                <a:cs typeface="Arial"/>
              </a:rPr>
              <a:t>Data and LoRA training</a:t>
            </a:r>
          </a:p>
        </p:txBody>
      </p:sp>
      <p:sp>
        <p:nvSpPr>
          <p:cNvPr id="4" name="">
            <a:extLst xmlns:a="http://schemas.openxmlformats.org/drawingml/2006/main">
              <a:ext uri="{FF2B5EF4-FFF2-40B4-BE49-F238E27FC236}">
                <a16:creationId xmlns:a16="http://schemas.microsoft.com/office/drawing/2014/main" id="{1A3C6D83-5224-419F-9B4B-2F8BF992F2F5}"/>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37BC8E-B2CD-4A3B-98CE-CB8FBCF0DEC6}"/>
              </a:ext>
            </a:extLst>
          </p:cNvPr>
          <p:cNvSpPr>
            <a:spLocks xmlns:a="http://schemas.openxmlformats.org/drawingml/2006/main" noGrp="1"/>
          </p:cNvSpPr>
          <p:nvPr/>
        </p:nvSpPr>
        <p:spPr>
          <a:xfrm xmlns:a="http://schemas.openxmlformats.org/drawingml/2006/main">
            <a:off x="609600" y="64674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F7168"/>
                </a:solidFill>
                <a:latin typeface="Arial"/>
                <a:ea typeface="Arial"/>
                <a:cs typeface="Arial"/>
              </a:defRPr>
            </a:defPPr>
            <a:lvl1pPr>
              <a:defRPr sz="1050" b="0">
                <a:solidFill>
                  <a:srgbClr val="5F7168"/>
                </a:solidFill>
                <a:latin typeface="Arial"/>
                <a:ea typeface="Arial"/>
                <a:cs typeface="Arial"/>
              </a:defRPr>
            </a:lvl1pPr>
            <a:lvl2pPr>
              <a:defRPr sz="1050" b="0">
                <a:solidFill>
                  <a:srgbClr val="5F7168"/>
                </a:solidFill>
                <a:latin typeface="Arial"/>
                <a:ea typeface="Arial"/>
                <a:cs typeface="Arial"/>
              </a:defRPr>
            </a:lvl2pPr>
            <a:lvl3pPr>
              <a:defRPr sz="1050" b="0">
                <a:solidFill>
                  <a:srgbClr val="5F7168"/>
                </a:solidFill>
                <a:latin typeface="Arial"/>
                <a:ea typeface="Arial"/>
                <a:cs typeface="Arial"/>
              </a:defRPr>
            </a:lvl3pPr>
            <a:lvl4pPr>
              <a:defRPr sz="1050" b="0">
                <a:solidFill>
                  <a:srgbClr val="5F7168"/>
                </a:solidFill>
                <a:latin typeface="Arial"/>
                <a:ea typeface="Arial"/>
                <a:cs typeface="Arial"/>
              </a:defRPr>
            </a:lvl4pPr>
            <a:lvl5pPr>
              <a:defRPr sz="1050" b="0">
                <a:solidFill>
                  <a:srgbClr val="5F7168"/>
                </a:solidFill>
                <a:latin typeface="Arial"/>
                <a:ea typeface="Arial"/>
                <a:cs typeface="Arial"/>
              </a:defRPr>
            </a:lvl5pPr>
            <a:lvl6pPr>
              <a:defRPr sz="1050" b="0">
                <a:solidFill>
                  <a:srgbClr val="5F7168"/>
                </a:solidFill>
                <a:latin typeface="Arial"/>
                <a:ea typeface="Arial"/>
                <a:cs typeface="Arial"/>
              </a:defRPr>
            </a:lvl6pPr>
            <a:lvl7pPr>
              <a:defRPr sz="1050" b="0">
                <a:solidFill>
                  <a:srgbClr val="5F7168"/>
                </a:solidFill>
                <a:latin typeface="Arial"/>
                <a:ea typeface="Arial"/>
                <a:cs typeface="Arial"/>
              </a:defRPr>
            </a:lvl7pPr>
            <a:lvl8pPr>
              <a:defRPr sz="1050" b="0">
                <a:solidFill>
                  <a:srgbClr val="5F7168"/>
                </a:solidFill>
                <a:latin typeface="Arial"/>
                <a:ea typeface="Arial"/>
                <a:cs typeface="Arial"/>
              </a:defRPr>
            </a:lvl8pPr>
            <a:lvl9pPr>
              <a:defRPr sz="1050" b="0">
                <a:solidFill>
                  <a:srgbClr val="5F7168"/>
                </a:solidFill>
                <a:latin typeface="Arial"/>
                <a:ea typeface="Arial"/>
                <a:cs typeface="Arial"/>
              </a:defRPr>
            </a:lvl9pPr>
          </a:lstStyle>
          <a:p xmlns:a="http://schemas.openxmlformats.org/drawingml/2006/main">
            <a:pPr>
              <a:defRPr sz="1050" b="0">
                <a:solidFill>
                  <a:srgbClr val="5F7168"/>
                </a:solidFill>
                <a:latin typeface="Arial"/>
                <a:ea typeface="Arial"/>
                <a:cs typeface="Arial"/>
              </a:defRPr>
            </a:pPr>
            <a:r>
              <a:rPr sz="1050" b="0">
                <a:solidFill>
                  <a:srgbClr val="5F7168"/>
                </a:solidFill>
                <a:latin typeface="Arial"/>
                <a:ea typeface="Arial"/>
                <a:cs typeface="Arial"/>
              </a:rPr>
              <a:t>Travel Constraint Extraction · 2026</a:t>
            </a:r>
          </a:p>
        </p:txBody>
      </p:sp>
      <p:sp>
        <p:nvSpPr>
          <p:cNvPr id="6" name="">
            <a:extLst xmlns:a="http://schemas.openxmlformats.org/drawingml/2006/main">
              <a:ext uri="{FF2B5EF4-FFF2-40B4-BE49-F238E27FC236}">
                <a16:creationId xmlns:a16="http://schemas.microsoft.com/office/drawing/2014/main" id="{D45BD9B1-9893-49A4-83D5-7EB898FC858F}"/>
              </a:ext>
            </a:extLst>
          </p:cNvPr>
          <p:cNvSpPr>
            <a:spLocks xmlns:a="http://schemas.openxmlformats.org/drawingml/2006/main" noGrp="1"/>
          </p:cNvSpPr>
          <p:nvPr/>
        </p:nvSpPr>
        <p:spPr>
          <a:xfrm xmlns:a="http://schemas.openxmlformats.org/drawingml/2006/main">
            <a:off x="609600" y="1562100"/>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245D51"/>
                </a:solidFill>
                <a:latin typeface="Arial"/>
                <a:ea typeface="Arial"/>
                <a:cs typeface="Arial"/>
              </a:defRPr>
            </a:defPPr>
            <a:lvl1pPr>
              <a:defRPr sz="3750" b="1">
                <a:solidFill>
                  <a:srgbClr val="245D51"/>
                </a:solidFill>
                <a:latin typeface="Arial"/>
                <a:ea typeface="Arial"/>
                <a:cs typeface="Arial"/>
              </a:defRPr>
            </a:lvl1pPr>
            <a:lvl2pPr>
              <a:defRPr sz="3750" b="1">
                <a:solidFill>
                  <a:srgbClr val="245D51"/>
                </a:solidFill>
                <a:latin typeface="Arial"/>
                <a:ea typeface="Arial"/>
                <a:cs typeface="Arial"/>
              </a:defRPr>
            </a:lvl2pPr>
            <a:lvl3pPr>
              <a:defRPr sz="3750" b="1">
                <a:solidFill>
                  <a:srgbClr val="245D51"/>
                </a:solidFill>
                <a:latin typeface="Arial"/>
                <a:ea typeface="Arial"/>
                <a:cs typeface="Arial"/>
              </a:defRPr>
            </a:lvl3pPr>
            <a:lvl4pPr>
              <a:defRPr sz="3750" b="1">
                <a:solidFill>
                  <a:srgbClr val="245D51"/>
                </a:solidFill>
                <a:latin typeface="Arial"/>
                <a:ea typeface="Arial"/>
                <a:cs typeface="Arial"/>
              </a:defRPr>
            </a:lvl4pPr>
            <a:lvl5pPr>
              <a:defRPr sz="3750" b="1">
                <a:solidFill>
                  <a:srgbClr val="245D51"/>
                </a:solidFill>
                <a:latin typeface="Arial"/>
                <a:ea typeface="Arial"/>
                <a:cs typeface="Arial"/>
              </a:defRPr>
            </a:lvl5pPr>
            <a:lvl6pPr>
              <a:defRPr sz="3750" b="1">
                <a:solidFill>
                  <a:srgbClr val="245D51"/>
                </a:solidFill>
                <a:latin typeface="Arial"/>
                <a:ea typeface="Arial"/>
                <a:cs typeface="Arial"/>
              </a:defRPr>
            </a:lvl6pPr>
            <a:lvl7pPr>
              <a:defRPr sz="3750" b="1">
                <a:solidFill>
                  <a:srgbClr val="245D51"/>
                </a:solidFill>
                <a:latin typeface="Arial"/>
                <a:ea typeface="Arial"/>
                <a:cs typeface="Arial"/>
              </a:defRPr>
            </a:lvl7pPr>
            <a:lvl8pPr>
              <a:defRPr sz="3750" b="1">
                <a:solidFill>
                  <a:srgbClr val="245D51"/>
                </a:solidFill>
                <a:latin typeface="Arial"/>
                <a:ea typeface="Arial"/>
                <a:cs typeface="Arial"/>
              </a:defRPr>
            </a:lvl8pPr>
            <a:lvl9pPr>
              <a:defRPr sz="3750" b="1">
                <a:solidFill>
                  <a:srgbClr val="245D51"/>
                </a:solidFill>
                <a:latin typeface="Arial"/>
                <a:ea typeface="Arial"/>
                <a:cs typeface="Arial"/>
              </a:defRPr>
            </a:lvl9pPr>
          </a:lstStyle>
          <a:p xmlns:a="http://schemas.openxmlformats.org/drawingml/2006/main">
            <a:pPr>
              <a:defRPr sz="3750" b="1">
                <a:solidFill>
                  <a:srgbClr val="245D51"/>
                </a:solidFill>
                <a:latin typeface="Arial"/>
                <a:ea typeface="Arial"/>
                <a:cs typeface="Arial"/>
              </a:defRPr>
            </a:pPr>
            <a:r>
              <a:rPr sz="3750" b="1">
                <a:solidFill>
                  <a:srgbClr val="245D51"/>
                </a:solidFill>
                <a:latin typeface="Arial"/>
                <a:ea typeface="Arial"/>
                <a:cs typeface="Arial"/>
              </a:rPr>
              <a:t>400 examples</a:t>
            </a:r>
          </a:p>
        </p:txBody>
      </p:sp>
      <p:sp>
        <p:nvSpPr>
          <p:cNvPr id="7" name="">
            <a:extLst xmlns:a="http://schemas.openxmlformats.org/drawingml/2006/main">
              <a:ext uri="{FF2B5EF4-FFF2-40B4-BE49-F238E27FC236}">
                <a16:creationId xmlns:a16="http://schemas.microsoft.com/office/drawing/2014/main" id="{00E265C0-8195-4DB9-9A15-4A91F52D4934}"/>
              </a:ext>
            </a:extLst>
          </p:cNvPr>
          <p:cNvSpPr>
            <a:spLocks xmlns:a="http://schemas.openxmlformats.org/drawingml/2006/main" noGrp="1"/>
          </p:cNvSpPr>
          <p:nvPr/>
        </p:nvSpPr>
        <p:spPr>
          <a:xfrm xmlns:a="http://schemas.openxmlformats.org/drawingml/2006/main">
            <a:off x="609600" y="23145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62F"/>
                </a:solidFill>
                <a:latin typeface="Arial"/>
                <a:ea typeface="Arial"/>
                <a:cs typeface="Arial"/>
              </a:defRPr>
            </a:defPPr>
            <a:lvl1pPr>
              <a:defRPr sz="2175" b="0">
                <a:solidFill>
                  <a:srgbClr val="18362F"/>
                </a:solidFill>
                <a:latin typeface="Arial"/>
                <a:ea typeface="Arial"/>
                <a:cs typeface="Arial"/>
              </a:defRPr>
            </a:lvl1pPr>
            <a:lvl2pPr>
              <a:defRPr sz="2175" b="0">
                <a:solidFill>
                  <a:srgbClr val="18362F"/>
                </a:solidFill>
                <a:latin typeface="Arial"/>
                <a:ea typeface="Arial"/>
                <a:cs typeface="Arial"/>
              </a:defRPr>
            </a:lvl2pPr>
            <a:lvl3pPr>
              <a:defRPr sz="2175" b="0">
                <a:solidFill>
                  <a:srgbClr val="18362F"/>
                </a:solidFill>
                <a:latin typeface="Arial"/>
                <a:ea typeface="Arial"/>
                <a:cs typeface="Arial"/>
              </a:defRPr>
            </a:lvl3pPr>
            <a:lvl4pPr>
              <a:defRPr sz="2175" b="0">
                <a:solidFill>
                  <a:srgbClr val="18362F"/>
                </a:solidFill>
                <a:latin typeface="Arial"/>
                <a:ea typeface="Arial"/>
                <a:cs typeface="Arial"/>
              </a:defRPr>
            </a:lvl4pPr>
            <a:lvl5pPr>
              <a:defRPr sz="2175" b="0">
                <a:solidFill>
                  <a:srgbClr val="18362F"/>
                </a:solidFill>
                <a:latin typeface="Arial"/>
                <a:ea typeface="Arial"/>
                <a:cs typeface="Arial"/>
              </a:defRPr>
            </a:lvl5pPr>
            <a:lvl6pPr>
              <a:defRPr sz="2175" b="0">
                <a:solidFill>
                  <a:srgbClr val="18362F"/>
                </a:solidFill>
                <a:latin typeface="Arial"/>
                <a:ea typeface="Arial"/>
                <a:cs typeface="Arial"/>
              </a:defRPr>
            </a:lvl6pPr>
            <a:lvl7pPr>
              <a:defRPr sz="2175" b="0">
                <a:solidFill>
                  <a:srgbClr val="18362F"/>
                </a:solidFill>
                <a:latin typeface="Arial"/>
                <a:ea typeface="Arial"/>
                <a:cs typeface="Arial"/>
              </a:defRPr>
            </a:lvl7pPr>
            <a:lvl8pPr>
              <a:defRPr sz="2175" b="0">
                <a:solidFill>
                  <a:srgbClr val="18362F"/>
                </a:solidFill>
                <a:latin typeface="Arial"/>
                <a:ea typeface="Arial"/>
                <a:cs typeface="Arial"/>
              </a:defRPr>
            </a:lvl8pPr>
            <a:lvl9pPr>
              <a:defRPr sz="2175" b="0">
                <a:solidFill>
                  <a:srgbClr val="18362F"/>
                </a:solidFill>
                <a:latin typeface="Arial"/>
                <a:ea typeface="Arial"/>
                <a:cs typeface="Arial"/>
              </a:defRPr>
            </a:lvl9pPr>
          </a:lstStyle>
          <a:p xmlns:a="http://schemas.openxmlformats.org/drawingml/2006/main">
            <a:pPr>
              <a:defRPr sz="2175" b="0">
                <a:solidFill>
                  <a:srgbClr val="18362F"/>
                </a:solidFill>
                <a:latin typeface="Arial"/>
                <a:ea typeface="Arial"/>
                <a:cs typeface="Arial"/>
              </a:defRPr>
            </a:pPr>
            <a:r>
              <a:rPr sz="2175" b="0">
                <a:solidFill>
                  <a:srgbClr val="18362F"/>
                </a:solidFill>
                <a:latin typeface="Arial"/>
                <a:ea typeface="Arial"/>
                <a:cs typeface="Arial"/>
              </a:rPr>
              <a:t>280 train / 40 validation / 80 test</a:t>
            </a:r>
          </a:p>
        </p:txBody>
      </p:sp>
      <p:sp>
        <p:nvSpPr>
          <p:cNvPr id="8" name="">
            <a:extLst xmlns:a="http://schemas.openxmlformats.org/drawingml/2006/main">
              <a:ext uri="{FF2B5EF4-FFF2-40B4-BE49-F238E27FC236}">
                <a16:creationId xmlns:a16="http://schemas.microsoft.com/office/drawing/2014/main" id="{8F8C3401-27C0-4FB6-B068-0B3CF7BE62B7}"/>
              </a:ext>
            </a:extLst>
          </p:cNvPr>
          <p:cNvSpPr>
            <a:spLocks xmlns:a="http://schemas.openxmlformats.org/drawingml/2006/main" noGrp="1"/>
          </p:cNvSpPr>
          <p:nvPr/>
        </p:nvSpPr>
        <p:spPr>
          <a:xfrm xmlns:a="http://schemas.openxmlformats.org/drawingml/2006/main">
            <a:off x="609600" y="2819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62F"/>
                </a:solidFill>
                <a:latin typeface="Arial"/>
                <a:ea typeface="Arial"/>
                <a:cs typeface="Arial"/>
              </a:defRPr>
            </a:defPPr>
            <a:lvl1pPr>
              <a:defRPr sz="1950" b="0">
                <a:solidFill>
                  <a:srgbClr val="18362F"/>
                </a:solidFill>
                <a:latin typeface="Arial"/>
                <a:ea typeface="Arial"/>
                <a:cs typeface="Arial"/>
              </a:defRPr>
            </a:lvl1pPr>
            <a:lvl2pPr>
              <a:defRPr sz="1950" b="0">
                <a:solidFill>
                  <a:srgbClr val="18362F"/>
                </a:solidFill>
                <a:latin typeface="Arial"/>
                <a:ea typeface="Arial"/>
                <a:cs typeface="Arial"/>
              </a:defRPr>
            </a:lvl2pPr>
            <a:lvl3pPr>
              <a:defRPr sz="1950" b="0">
                <a:solidFill>
                  <a:srgbClr val="18362F"/>
                </a:solidFill>
                <a:latin typeface="Arial"/>
                <a:ea typeface="Arial"/>
                <a:cs typeface="Arial"/>
              </a:defRPr>
            </a:lvl3pPr>
            <a:lvl4pPr>
              <a:defRPr sz="1950" b="0">
                <a:solidFill>
                  <a:srgbClr val="18362F"/>
                </a:solidFill>
                <a:latin typeface="Arial"/>
                <a:ea typeface="Arial"/>
                <a:cs typeface="Arial"/>
              </a:defRPr>
            </a:lvl4pPr>
            <a:lvl5pPr>
              <a:defRPr sz="1950" b="0">
                <a:solidFill>
                  <a:srgbClr val="18362F"/>
                </a:solidFill>
                <a:latin typeface="Arial"/>
                <a:ea typeface="Arial"/>
                <a:cs typeface="Arial"/>
              </a:defRPr>
            </a:lvl5pPr>
            <a:lvl6pPr>
              <a:defRPr sz="1950" b="0">
                <a:solidFill>
                  <a:srgbClr val="18362F"/>
                </a:solidFill>
                <a:latin typeface="Arial"/>
                <a:ea typeface="Arial"/>
                <a:cs typeface="Arial"/>
              </a:defRPr>
            </a:lvl6pPr>
            <a:lvl7pPr>
              <a:defRPr sz="1950" b="0">
                <a:solidFill>
                  <a:srgbClr val="18362F"/>
                </a:solidFill>
                <a:latin typeface="Arial"/>
                <a:ea typeface="Arial"/>
                <a:cs typeface="Arial"/>
              </a:defRPr>
            </a:lvl7pPr>
            <a:lvl8pPr>
              <a:defRPr sz="1950" b="0">
                <a:solidFill>
                  <a:srgbClr val="18362F"/>
                </a:solidFill>
                <a:latin typeface="Arial"/>
                <a:ea typeface="Arial"/>
                <a:cs typeface="Arial"/>
              </a:defRPr>
            </a:lvl8pPr>
            <a:lvl9pPr>
              <a:defRPr sz="1950" b="0">
                <a:solidFill>
                  <a:srgbClr val="18362F"/>
                </a:solidFill>
                <a:latin typeface="Arial"/>
                <a:ea typeface="Arial"/>
                <a:cs typeface="Arial"/>
              </a:defRPr>
            </a:lvl9pPr>
          </a:lstStyle>
          <a:p xmlns:a="http://schemas.openxmlformats.org/drawingml/2006/main">
            <a:pPr>
              <a:defRPr sz="1950" b="0">
                <a:solidFill>
                  <a:srgbClr val="18362F"/>
                </a:solidFill>
                <a:latin typeface="Arial"/>
                <a:ea typeface="Arial"/>
                <a:cs typeface="Arial"/>
              </a:defRPr>
            </a:pPr>
            <a:r>
              <a:rPr sz="1950" b="0">
                <a:solidFill>
                  <a:srgbClr val="18362F"/>
                </a:solidFill>
                <a:latin typeface="Arial"/>
                <a:ea typeface="Arial"/>
                <a:cs typeface="Arial"/>
              </a:rPr>
              <a:t>100 scenarios × 4 paraphrases, grouped before splitting</a:t>
            </a:r>
          </a:p>
        </p:txBody>
      </p:sp>
      <p:graphicFrame>
        <p:nvGraphicFramePr>
          <p:cNvPr id="9" name="">
            <a:extLst xmlns:a="http://schemas.openxmlformats.org/drawingml/2006/main">
              <a:ext uri="{FF2B5EF4-FFF2-40B4-BE49-F238E27FC236}">
                <a16:creationId xmlns:a16="http://schemas.microsoft.com/office/drawing/2014/main" id="{E0BE0301-F67F-4166-B506-20F3EFA56398}"/>
              </a:ext>
            </a:extLst>
          </p:cNvPr>
          <p:cNvGraphicFramePr/>
          <p:nvPr/>
        </p:nvGraphicFramePr>
        <p:xfrm>
          <a:off xmlns:a="http://schemas.openxmlformats.org/drawingml/2006/main" x="609600" y="3467100"/>
          <a:ext xmlns:a="http://schemas.openxmlformats.org/drawingml/2006/main" cx="10972800" cy="2057400"/>
        </p:xfrm>
        <a:graphic xmlns:a="http://schemas.openxmlformats.org/drawingml/2006/main">
          <a:graphicData uri="http://schemas.openxmlformats.org/drawingml/2006/table">
            <a:tbl>
              <a:tblPr/>
              <a:tblGrid>
                <a:gridCol w="3286125"/>
                <a:gridCol w="7686675"/>
              </a:tblGrid>
              <a:tr h="514350">
                <a:tc>
                  <a:txBody>
                    <a:bodyPr/>
                    <a:lstStyle/>
                    <a:p>
                      <a:r>
                        <a:rPr sz="1650" b="1">
                          <a:solidFill>
                            <a:srgbClr val="FFFFFF"/>
                          </a:solidFill>
                          <a:latin typeface="Arial"/>
                          <a:ea typeface="Arial"/>
                          <a:cs typeface="Arial"/>
                        </a:rPr>
                        <a:t>Approach</a:t>
                      </a:r>
                    </a:p>
                  </a:txBody>
                  <a:tcPr marL="91440" marR="91440" marT="45720" marB="45720">
                    <a:lnL w="6668">
                      <a:solidFill>
                        <a:srgbClr val="D6DDD3"/>
                      </a:solidFill>
                      <a:prstDash val="solid"/>
                    </a:lnL>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c>
                  <a:txBody>
                    <a:bodyPr/>
                    <a:lstStyle/>
                    <a:p>
                      <a:r>
                        <a:rPr sz="1650" b="1">
                          <a:solidFill>
                            <a:srgbClr val="FFFFFF"/>
                          </a:solidFill>
                          <a:latin typeface="Arial"/>
                          <a:ea typeface="Arial"/>
                          <a:cs typeface="Arial"/>
                        </a:rPr>
                        <a:t>Model and adaptation</a:t>
                      </a:r>
                    </a:p>
                  </a:txBody>
                  <a:tcPr marL="91440" marR="91440" marT="45720" marB="45720">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r>
              <a:tr h="514350">
                <a:tc>
                  <a:txBody>
                    <a:bodyPr/>
                    <a:lstStyle/>
                    <a:p>
                      <a:r>
                        <a:rPr sz="1800" b="0">
                          <a:solidFill>
                            <a:srgbClr val="18362F"/>
                          </a:solidFill>
                          <a:latin typeface="Arial"/>
                          <a:ea typeface="Arial"/>
                          <a:cs typeface="Arial"/>
                        </a:rPr>
                        <a:t>Small baseline</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F6F6EF"/>
                    </a:solidFill>
                  </a:tcPr>
                </a:tc>
                <a:tc>
                  <a:txBody>
                    <a:bodyPr/>
                    <a:lstStyle/>
                    <a:p>
                      <a:r>
                        <a:rPr sz="1800" b="0">
                          <a:solidFill>
                            <a:srgbClr val="18362F"/>
                          </a:solidFill>
                          <a:latin typeface="Arial"/>
                          <a:ea typeface="Arial"/>
                          <a:cs typeface="Arial"/>
                        </a:rPr>
                        <a:t>Qwen2.5-0.5B, zero-shot</a:t>
                      </a:r>
                    </a:p>
                  </a:txBody>
                  <a:tcPr marL="91440" marR="91440" marT="45720" marB="45720">
                    <a:lnR w="6668">
                      <a:solidFill>
                        <a:srgbClr val="D6DDD3"/>
                      </a:solidFill>
                      <a:prstDash val="solid"/>
                    </a:lnR>
                    <a:lnB w="6668">
                      <a:solidFill>
                        <a:srgbClr val="D6DDD3"/>
                      </a:solidFill>
                      <a:prstDash val="solid"/>
                    </a:lnB>
                    <a:solidFill>
                      <a:srgbClr val="F6F6EF"/>
                    </a:solidFill>
                  </a:tcPr>
                </a:tc>
              </a:tr>
              <a:tr h="514350">
                <a:tc>
                  <a:txBody>
                    <a:bodyPr/>
                    <a:lstStyle/>
                    <a:p>
                      <a:r>
                        <a:rPr sz="1800" b="0">
                          <a:solidFill>
                            <a:srgbClr val="18362F"/>
                          </a:solidFill>
                          <a:latin typeface="Arial"/>
                          <a:ea typeface="Arial"/>
                          <a:cs typeface="Arial"/>
                        </a:rPr>
                        <a:t>Fine-tuned small model</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E5EDE3"/>
                    </a:solidFill>
                  </a:tcPr>
                </a:tc>
                <a:tc>
                  <a:txBody>
                    <a:bodyPr/>
                    <a:lstStyle/>
                    <a:p>
                      <a:r>
                        <a:rPr sz="1800" b="0">
                          <a:solidFill>
                            <a:srgbClr val="18362F"/>
                          </a:solidFill>
                          <a:latin typeface="Arial"/>
                          <a:ea typeface="Arial"/>
                          <a:cs typeface="Arial"/>
                        </a:rPr>
                        <a:t>Same 0.5B + LoRA, rank 8, 840 steps</a:t>
                      </a:r>
                    </a:p>
                  </a:txBody>
                  <a:tcPr marL="91440" marR="91440" marT="45720" marB="45720">
                    <a:lnR w="6668">
                      <a:solidFill>
                        <a:srgbClr val="D6DDD3"/>
                      </a:solidFill>
                      <a:prstDash val="solid"/>
                    </a:lnR>
                    <a:lnB w="6668">
                      <a:solidFill>
                        <a:srgbClr val="D6DDD3"/>
                      </a:solidFill>
                      <a:prstDash val="solid"/>
                    </a:lnB>
                    <a:solidFill>
                      <a:srgbClr val="E5EDE3"/>
                    </a:solidFill>
                  </a:tcPr>
                </a:tc>
              </a:tr>
              <a:tr h="514350">
                <a:tc>
                  <a:txBody>
                    <a:bodyPr/>
                    <a:lstStyle/>
                    <a:p>
                      <a:r>
                        <a:rPr sz="1800" b="0">
                          <a:solidFill>
                            <a:srgbClr val="18362F"/>
                          </a:solidFill>
                          <a:latin typeface="Arial"/>
                          <a:ea typeface="Arial"/>
                          <a:cs typeface="Arial"/>
                        </a:rPr>
                        <a:t>Larger comparison</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F6F6EF"/>
                    </a:solidFill>
                  </a:tcPr>
                </a:tc>
                <a:tc>
                  <a:txBody>
                    <a:bodyPr/>
                    <a:lstStyle/>
                    <a:p>
                      <a:r>
                        <a:rPr sz="1800" b="0">
                          <a:solidFill>
                            <a:srgbClr val="18362F"/>
                          </a:solidFill>
                          <a:latin typeface="Arial"/>
                          <a:ea typeface="Arial"/>
                          <a:cs typeface="Arial"/>
                        </a:rPr>
                        <a:t>Qwen2.5-7B, 4-bit, two training examples</a:t>
                      </a:r>
                    </a:p>
                  </a:txBody>
                  <a:tcPr marL="91440" marR="91440" marT="45720" marB="45720">
                    <a:lnR w="6668">
                      <a:solidFill>
                        <a:srgbClr val="D6DDD3"/>
                      </a:solidFill>
                      <a:prstDash val="solid"/>
                    </a:lnR>
                    <a:lnB w="6668">
                      <a:solidFill>
                        <a:srgbClr val="D6DDD3"/>
                      </a:solidFill>
                      <a:prstDash val="solid"/>
                    </a:lnB>
                    <a:solidFill>
                      <a:srgbClr val="F6F6EF"/>
                    </a:solidFill>
                  </a:tcPr>
                </a:tc>
              </a:tr>
            </a:tbl>
          </a:graphicData>
        </a:graphic>
      </p:graphicFrame>
      <p:sp>
        <p:nvSpPr>
          <p:cNvPr id="10" name="">
            <a:extLst xmlns:a="http://schemas.openxmlformats.org/drawingml/2006/main">
              <a:ext uri="{FF2B5EF4-FFF2-40B4-BE49-F238E27FC236}">
                <a16:creationId xmlns:a16="http://schemas.microsoft.com/office/drawing/2014/main" id="{D3BE8252-D501-421D-A601-F16FA41357E3}"/>
              </a:ext>
            </a:extLst>
          </p:cNvPr>
          <p:cNvSpPr>
            <a:spLocks xmlns:a="http://schemas.openxmlformats.org/drawingml/2006/main" noGrp="1"/>
          </p:cNvSpPr>
          <p:nvPr/>
        </p:nvSpPr>
        <p:spPr>
          <a:xfrm xmlns:a="http://schemas.openxmlformats.org/drawingml/2006/main">
            <a:off x="609600" y="57816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5F7168"/>
                </a:solidFill>
                <a:latin typeface="Arial"/>
                <a:ea typeface="Arial"/>
                <a:cs typeface="Arial"/>
              </a:defRPr>
            </a:defPPr>
            <a:lvl1pPr>
              <a:defRPr sz="1725" b="1">
                <a:solidFill>
                  <a:srgbClr val="5F7168"/>
                </a:solidFill>
                <a:latin typeface="Arial"/>
                <a:ea typeface="Arial"/>
                <a:cs typeface="Arial"/>
              </a:defRPr>
            </a:lvl1pPr>
            <a:lvl2pPr>
              <a:defRPr sz="1725" b="1">
                <a:solidFill>
                  <a:srgbClr val="5F7168"/>
                </a:solidFill>
                <a:latin typeface="Arial"/>
                <a:ea typeface="Arial"/>
                <a:cs typeface="Arial"/>
              </a:defRPr>
            </a:lvl2pPr>
            <a:lvl3pPr>
              <a:defRPr sz="1725" b="1">
                <a:solidFill>
                  <a:srgbClr val="5F7168"/>
                </a:solidFill>
                <a:latin typeface="Arial"/>
                <a:ea typeface="Arial"/>
                <a:cs typeface="Arial"/>
              </a:defRPr>
            </a:lvl3pPr>
            <a:lvl4pPr>
              <a:defRPr sz="1725" b="1">
                <a:solidFill>
                  <a:srgbClr val="5F7168"/>
                </a:solidFill>
                <a:latin typeface="Arial"/>
                <a:ea typeface="Arial"/>
                <a:cs typeface="Arial"/>
              </a:defRPr>
            </a:lvl4pPr>
            <a:lvl5pPr>
              <a:defRPr sz="1725" b="1">
                <a:solidFill>
                  <a:srgbClr val="5F7168"/>
                </a:solidFill>
                <a:latin typeface="Arial"/>
                <a:ea typeface="Arial"/>
                <a:cs typeface="Arial"/>
              </a:defRPr>
            </a:lvl5pPr>
            <a:lvl6pPr>
              <a:defRPr sz="1725" b="1">
                <a:solidFill>
                  <a:srgbClr val="5F7168"/>
                </a:solidFill>
                <a:latin typeface="Arial"/>
                <a:ea typeface="Arial"/>
                <a:cs typeface="Arial"/>
              </a:defRPr>
            </a:lvl6pPr>
            <a:lvl7pPr>
              <a:defRPr sz="1725" b="1">
                <a:solidFill>
                  <a:srgbClr val="5F7168"/>
                </a:solidFill>
                <a:latin typeface="Arial"/>
                <a:ea typeface="Arial"/>
                <a:cs typeface="Arial"/>
              </a:defRPr>
            </a:lvl7pPr>
            <a:lvl8pPr>
              <a:defRPr sz="1725" b="1">
                <a:solidFill>
                  <a:srgbClr val="5F7168"/>
                </a:solidFill>
                <a:latin typeface="Arial"/>
                <a:ea typeface="Arial"/>
                <a:cs typeface="Arial"/>
              </a:defRPr>
            </a:lvl8pPr>
            <a:lvl9pPr>
              <a:defRPr sz="1725" b="1">
                <a:solidFill>
                  <a:srgbClr val="5F7168"/>
                </a:solidFill>
                <a:latin typeface="Arial"/>
                <a:ea typeface="Arial"/>
                <a:cs typeface="Arial"/>
              </a:defRPr>
            </a:lvl9pPr>
          </a:lstStyle>
          <a:p xmlns:a="http://schemas.openxmlformats.org/drawingml/2006/main">
            <a:pPr>
              <a:defRPr sz="1725" b="1">
                <a:solidFill>
                  <a:srgbClr val="5F7168"/>
                </a:solidFill>
                <a:latin typeface="Arial"/>
                <a:ea typeface="Arial"/>
                <a:cs typeface="Arial"/>
              </a:defRPr>
            </a:pPr>
            <a:r>
              <a:rPr sz="1725" b="1">
                <a:solidFill>
                  <a:srgbClr val="5F7168"/>
                </a:solidFill>
                <a:latin typeface="Arial"/>
                <a:ea typeface="Arial"/>
                <a:cs typeface="Arial"/>
              </a:rPr>
              <a:t>AI-reviewed synthetic labels: zero human-verified records</a:t>
            </a:r>
          </a:p>
        </p:txBody>
      </p:sp>
    </p:spTree>
    <p:extLst>
      <p:ext uri="{BB962C8B-B14F-4D97-AF65-F5344CB8AC3E}">
        <p14:creationId xmlns:p14="http://schemas.microsoft.com/office/powerpoint/2010/main" val="1749967439"/>
      </p:ext>
    </p:extLst>
  </p:cSld>
</p:sld>
</file>

<file path=ppt/slides/slide4.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83B80C-61B5-44DC-B44D-6EF9F5A1EA20}"/>
              </a:ext>
            </a:extLst>
          </p:cNvPr>
          <p:cNvSpPr>
            <a:spLocks xmlns:a="http://schemas.openxmlformats.org/drawingml/2006/main" noGrp="1"/>
          </p:cNvSpPr>
          <p:nvPr/>
        </p:nvSpPr>
        <p:spPr>
          <a:xfrm xmlns:a="http://schemas.openxmlformats.org/drawingml/2006/main">
            <a:off x="609600" y="266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RECENT AREAS OF AI  /  HYOJIN LEE</a:t>
            </a:r>
          </a:p>
        </p:txBody>
      </p:sp>
      <p:sp>
        <p:nvSpPr>
          <p:cNvPr id="2" name="">
            <a:extLst xmlns:a="http://schemas.openxmlformats.org/drawingml/2006/main">
              <a:ext uri="{FF2B5EF4-FFF2-40B4-BE49-F238E27FC236}">
                <a16:creationId xmlns:a16="http://schemas.microsoft.com/office/drawing/2014/main" id="{971E8638-FB29-4172-9099-56F5B371FDA5}"/>
              </a:ext>
            </a:extLst>
          </p:cNvPr>
          <p:cNvSpPr>
            <a:spLocks xmlns:a="http://schemas.openxmlformats.org/drawingml/2006/main" noGrp="1"/>
          </p:cNvSpPr>
          <p:nvPr/>
        </p:nvSpPr>
        <p:spPr>
          <a:xfrm xmlns:a="http://schemas.openxmlformats.org/drawingml/2006/main">
            <a:off x="10972800" y="2667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AB6D929-DDA8-4B86-A762-574E470078E8}"/>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62F"/>
                </a:solidFill>
                <a:latin typeface="Arial"/>
                <a:ea typeface="Arial"/>
                <a:cs typeface="Arial"/>
              </a:defRPr>
            </a:defPPr>
            <a:lvl1pPr>
              <a:defRPr sz="3300" b="1">
                <a:solidFill>
                  <a:srgbClr val="18362F"/>
                </a:solidFill>
                <a:latin typeface="Arial"/>
                <a:ea typeface="Arial"/>
                <a:cs typeface="Arial"/>
              </a:defRPr>
            </a:lvl1pPr>
            <a:lvl2pPr>
              <a:defRPr sz="3300" b="1">
                <a:solidFill>
                  <a:srgbClr val="18362F"/>
                </a:solidFill>
                <a:latin typeface="Arial"/>
                <a:ea typeface="Arial"/>
                <a:cs typeface="Arial"/>
              </a:defRPr>
            </a:lvl2pPr>
            <a:lvl3pPr>
              <a:defRPr sz="3300" b="1">
                <a:solidFill>
                  <a:srgbClr val="18362F"/>
                </a:solidFill>
                <a:latin typeface="Arial"/>
                <a:ea typeface="Arial"/>
                <a:cs typeface="Arial"/>
              </a:defRPr>
            </a:lvl3pPr>
            <a:lvl4pPr>
              <a:defRPr sz="3300" b="1">
                <a:solidFill>
                  <a:srgbClr val="18362F"/>
                </a:solidFill>
                <a:latin typeface="Arial"/>
                <a:ea typeface="Arial"/>
                <a:cs typeface="Arial"/>
              </a:defRPr>
            </a:lvl4pPr>
            <a:lvl5pPr>
              <a:defRPr sz="3300" b="1">
                <a:solidFill>
                  <a:srgbClr val="18362F"/>
                </a:solidFill>
                <a:latin typeface="Arial"/>
                <a:ea typeface="Arial"/>
                <a:cs typeface="Arial"/>
              </a:defRPr>
            </a:lvl5pPr>
            <a:lvl6pPr>
              <a:defRPr sz="3300" b="1">
                <a:solidFill>
                  <a:srgbClr val="18362F"/>
                </a:solidFill>
                <a:latin typeface="Arial"/>
                <a:ea typeface="Arial"/>
                <a:cs typeface="Arial"/>
              </a:defRPr>
            </a:lvl6pPr>
            <a:lvl7pPr>
              <a:defRPr sz="3300" b="1">
                <a:solidFill>
                  <a:srgbClr val="18362F"/>
                </a:solidFill>
                <a:latin typeface="Arial"/>
                <a:ea typeface="Arial"/>
                <a:cs typeface="Arial"/>
              </a:defRPr>
            </a:lvl7pPr>
            <a:lvl8pPr>
              <a:defRPr sz="3300" b="1">
                <a:solidFill>
                  <a:srgbClr val="18362F"/>
                </a:solidFill>
                <a:latin typeface="Arial"/>
                <a:ea typeface="Arial"/>
                <a:cs typeface="Arial"/>
              </a:defRPr>
            </a:lvl8pPr>
            <a:lvl9pPr>
              <a:defRPr sz="3300" b="1">
                <a:solidFill>
                  <a:srgbClr val="18362F"/>
                </a:solidFill>
                <a:latin typeface="Arial"/>
                <a:ea typeface="Arial"/>
                <a:cs typeface="Arial"/>
              </a:defRPr>
            </a:lvl9pPr>
          </a:lstStyle>
          <a:p xmlns:a="http://schemas.openxmlformats.org/drawingml/2006/main">
            <a:pPr>
              <a:defRPr sz="3300" b="1">
                <a:solidFill>
                  <a:srgbClr val="18362F"/>
                </a:solidFill>
                <a:latin typeface="Arial"/>
                <a:ea typeface="Arial"/>
                <a:cs typeface="Arial"/>
              </a:defRPr>
            </a:pPr>
            <a:r>
              <a:rPr sz="3300" b="1">
                <a:solidFill>
                  <a:srgbClr val="18362F"/>
                </a:solidFill>
                <a:latin typeface="Arial"/>
                <a:ea typeface="Arial"/>
                <a:cs typeface="Arial"/>
              </a:rPr>
              <a:t>Held-out extraction results</a:t>
            </a:r>
          </a:p>
        </p:txBody>
      </p:sp>
      <p:sp>
        <p:nvSpPr>
          <p:cNvPr id="4" name="">
            <a:extLst xmlns:a="http://schemas.openxmlformats.org/drawingml/2006/main">
              <a:ext uri="{FF2B5EF4-FFF2-40B4-BE49-F238E27FC236}">
                <a16:creationId xmlns:a16="http://schemas.microsoft.com/office/drawing/2014/main" id="{2BCE5779-523F-40F0-B709-02C2D714283E}"/>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0E5B9F-EBC1-4392-A8BB-71450EE19DF0}"/>
              </a:ext>
            </a:extLst>
          </p:cNvPr>
          <p:cNvSpPr>
            <a:spLocks xmlns:a="http://schemas.openxmlformats.org/drawingml/2006/main" noGrp="1"/>
          </p:cNvSpPr>
          <p:nvPr/>
        </p:nvSpPr>
        <p:spPr>
          <a:xfrm xmlns:a="http://schemas.openxmlformats.org/drawingml/2006/main">
            <a:off x="609600" y="64674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F7168"/>
                </a:solidFill>
                <a:latin typeface="Arial"/>
                <a:ea typeface="Arial"/>
                <a:cs typeface="Arial"/>
              </a:defRPr>
            </a:defPPr>
            <a:lvl1pPr>
              <a:defRPr sz="1050" b="0">
                <a:solidFill>
                  <a:srgbClr val="5F7168"/>
                </a:solidFill>
                <a:latin typeface="Arial"/>
                <a:ea typeface="Arial"/>
                <a:cs typeface="Arial"/>
              </a:defRPr>
            </a:lvl1pPr>
            <a:lvl2pPr>
              <a:defRPr sz="1050" b="0">
                <a:solidFill>
                  <a:srgbClr val="5F7168"/>
                </a:solidFill>
                <a:latin typeface="Arial"/>
                <a:ea typeface="Arial"/>
                <a:cs typeface="Arial"/>
              </a:defRPr>
            </a:lvl2pPr>
            <a:lvl3pPr>
              <a:defRPr sz="1050" b="0">
                <a:solidFill>
                  <a:srgbClr val="5F7168"/>
                </a:solidFill>
                <a:latin typeface="Arial"/>
                <a:ea typeface="Arial"/>
                <a:cs typeface="Arial"/>
              </a:defRPr>
            </a:lvl3pPr>
            <a:lvl4pPr>
              <a:defRPr sz="1050" b="0">
                <a:solidFill>
                  <a:srgbClr val="5F7168"/>
                </a:solidFill>
                <a:latin typeface="Arial"/>
                <a:ea typeface="Arial"/>
                <a:cs typeface="Arial"/>
              </a:defRPr>
            </a:lvl4pPr>
            <a:lvl5pPr>
              <a:defRPr sz="1050" b="0">
                <a:solidFill>
                  <a:srgbClr val="5F7168"/>
                </a:solidFill>
                <a:latin typeface="Arial"/>
                <a:ea typeface="Arial"/>
                <a:cs typeface="Arial"/>
              </a:defRPr>
            </a:lvl5pPr>
            <a:lvl6pPr>
              <a:defRPr sz="1050" b="0">
                <a:solidFill>
                  <a:srgbClr val="5F7168"/>
                </a:solidFill>
                <a:latin typeface="Arial"/>
                <a:ea typeface="Arial"/>
                <a:cs typeface="Arial"/>
              </a:defRPr>
            </a:lvl6pPr>
            <a:lvl7pPr>
              <a:defRPr sz="1050" b="0">
                <a:solidFill>
                  <a:srgbClr val="5F7168"/>
                </a:solidFill>
                <a:latin typeface="Arial"/>
                <a:ea typeface="Arial"/>
                <a:cs typeface="Arial"/>
              </a:defRPr>
            </a:lvl7pPr>
            <a:lvl8pPr>
              <a:defRPr sz="1050" b="0">
                <a:solidFill>
                  <a:srgbClr val="5F7168"/>
                </a:solidFill>
                <a:latin typeface="Arial"/>
                <a:ea typeface="Arial"/>
                <a:cs typeface="Arial"/>
              </a:defRPr>
            </a:lvl8pPr>
            <a:lvl9pPr>
              <a:defRPr sz="1050" b="0">
                <a:solidFill>
                  <a:srgbClr val="5F7168"/>
                </a:solidFill>
                <a:latin typeface="Arial"/>
                <a:ea typeface="Arial"/>
                <a:cs typeface="Arial"/>
              </a:defRPr>
            </a:lvl9pPr>
          </a:lstStyle>
          <a:p xmlns:a="http://schemas.openxmlformats.org/drawingml/2006/main">
            <a:pPr>
              <a:defRPr sz="1050" b="0">
                <a:solidFill>
                  <a:srgbClr val="5F7168"/>
                </a:solidFill>
                <a:latin typeface="Arial"/>
                <a:ea typeface="Arial"/>
                <a:cs typeface="Arial"/>
              </a:defRPr>
            </a:pPr>
            <a:r>
              <a:rPr sz="1050" b="0">
                <a:solidFill>
                  <a:srgbClr val="5F7168"/>
                </a:solidFill>
                <a:latin typeface="Arial"/>
                <a:ea typeface="Arial"/>
                <a:cs typeface="Arial"/>
              </a:rPr>
              <a:t>Travel Constraint Extraction · 2026</a:t>
            </a:r>
          </a:p>
        </p:txBody>
      </p:sp>
      <p:graphicFrame>
        <p:nvGraphicFramePr>
          <p:cNvPr id="6" name="Chart">
            <a:extLst xmlns:a="http://schemas.openxmlformats.org/drawingml/2006/main">
              <a:ext uri="{FF2B5EF4-FFF2-40B4-BE49-F238E27FC236}">
                <a16:creationId xmlns:a16="http://schemas.microsoft.com/office/drawing/2014/main" id="{E69741FC-8F4E-49F9-B8D4-126A867F228E}"/>
              </a:ext>
            </a:extLst>
          </p:cNvPr>
          <p:cNvGraphicFramePr/>
          <p:nvPr/>
        </p:nvGraphicFramePr>
        <p:xfrm>
          <a:off xmlns:a="http://schemas.openxmlformats.org/drawingml/2006/main" x="609600" y="1447800"/>
          <a:ext xmlns:a="http://schemas.openxmlformats.org/drawingml/2006/main" cx="10972800" cy="2790825"/>
        </p:xfrm>
        <a:graphic xmlns:a="http://schemas.openxmlformats.org/drawingml/2006/main">
          <a:graphicData uri="http://schemas.openxmlformats.org/drawingml/2006/chart">
            <c:chart xmlns:r="http://schemas.openxmlformats.org/officeDocument/2006/relationships" xmlns:c="http://schemas.openxmlformats.org/drawingml/2006/chart" r:id="R706acf6af6ce4a04"/>
          </a:graphicData>
        </a:graphic>
      </p:graphicFrame>
      <p:graphicFrame>
        <p:nvGraphicFramePr>
          <p:cNvPr id="7" name="">
            <a:extLst xmlns:a="http://schemas.openxmlformats.org/drawingml/2006/main">
              <a:ext uri="{FF2B5EF4-FFF2-40B4-BE49-F238E27FC236}">
                <a16:creationId xmlns:a16="http://schemas.microsoft.com/office/drawing/2014/main" id="{A2793C5F-9EB2-450B-B529-23EBF8C2E96D}"/>
              </a:ext>
            </a:extLst>
          </p:cNvPr>
          <p:cNvGraphicFramePr/>
          <p:nvPr/>
        </p:nvGraphicFramePr>
        <p:xfrm>
          <a:off xmlns:a="http://schemas.openxmlformats.org/drawingml/2006/main" x="609600" y="4286250"/>
          <a:ext xmlns:a="http://schemas.openxmlformats.org/drawingml/2006/main" cx="10972800" cy="1657350"/>
        </p:xfrm>
        <a:graphic xmlns:a="http://schemas.openxmlformats.org/drawingml/2006/main">
          <a:graphicData uri="http://schemas.openxmlformats.org/drawingml/2006/table">
            <a:tbl>
              <a:tblPr/>
              <a:tblGrid>
                <a:gridCol w="4762500"/>
                <a:gridCol w="3105150"/>
                <a:gridCol w="3105150"/>
              </a:tblGrid>
              <a:tr h="414338">
                <a:tc>
                  <a:txBody>
                    <a:bodyPr/>
                    <a:lstStyle/>
                    <a:p>
                      <a:r>
                        <a:rPr sz="1500" b="1">
                          <a:solidFill>
                            <a:srgbClr val="FFFFFF"/>
                          </a:solidFill>
                          <a:latin typeface="Arial"/>
                          <a:ea typeface="Arial"/>
                          <a:cs typeface="Arial"/>
                        </a:rPr>
                        <a:t>Approach</a:t>
                      </a:r>
                    </a:p>
                  </a:txBody>
                  <a:tcPr marL="91440" marR="91440" marT="45720" marB="45720">
                    <a:lnL w="6668">
                      <a:solidFill>
                        <a:srgbClr val="D6DDD3"/>
                      </a:solidFill>
                      <a:prstDash val="solid"/>
                    </a:lnL>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c>
                  <a:txBody>
                    <a:bodyPr/>
                    <a:lstStyle/>
                    <a:p>
                      <a:r>
                        <a:rPr sz="1500" b="1">
                          <a:solidFill>
                            <a:srgbClr val="FFFFFF"/>
                          </a:solidFill>
                          <a:latin typeface="Arial"/>
                          <a:ea typeface="Arial"/>
                          <a:cs typeface="Arial"/>
                        </a:rPr>
                        <a:t>Exact records</a:t>
                      </a:r>
                    </a:p>
                  </a:txBody>
                  <a:tcPr marL="91440" marR="91440" marT="45720" marB="45720">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c>
                  <a:txBody>
                    <a:bodyPr/>
                    <a:lstStyle/>
                    <a:p>
                      <a:r>
                        <a:rPr sz="1500" b="1">
                          <a:solidFill>
                            <a:srgbClr val="FFFFFF"/>
                          </a:solidFill>
                          <a:latin typeface="Arial"/>
                          <a:ea typeface="Arial"/>
                          <a:cs typeface="Arial"/>
                        </a:rPr>
                        <a:t>Valid JSON</a:t>
                      </a:r>
                    </a:p>
                  </a:txBody>
                  <a:tcPr marL="91440" marR="91440" marT="45720" marB="45720">
                    <a:lnR w="6668">
                      <a:solidFill>
                        <a:srgbClr val="D6DDD3"/>
                      </a:solidFill>
                      <a:prstDash val="solid"/>
                    </a:lnR>
                    <a:lnT w="6668">
                      <a:solidFill>
                        <a:srgbClr val="D6DDD3"/>
                      </a:solidFill>
                      <a:prstDash val="solid"/>
                    </a:lnT>
                    <a:lnB w="6668">
                      <a:solidFill>
                        <a:srgbClr val="D6DDD3"/>
                      </a:solidFill>
                      <a:prstDash val="solid"/>
                    </a:lnB>
                    <a:solidFill>
                      <a:srgbClr val="245D51"/>
                    </a:solidFill>
                  </a:tcPr>
                </a:tc>
              </a:tr>
              <a:tr h="414338">
                <a:tc>
                  <a:txBody>
                    <a:bodyPr/>
                    <a:lstStyle/>
                    <a:p>
                      <a:r>
                        <a:rPr sz="1650" b="0">
                          <a:solidFill>
                            <a:srgbClr val="18362F"/>
                          </a:solidFill>
                          <a:latin typeface="Arial"/>
                          <a:ea typeface="Arial"/>
                          <a:cs typeface="Arial"/>
                        </a:rPr>
                        <a:t>0.5B baseline</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F6F6EF"/>
                    </a:solidFill>
                  </a:tcPr>
                </a:tc>
                <a:tc>
                  <a:txBody>
                    <a:bodyPr/>
                    <a:lstStyle/>
                    <a:p>
                      <a:r>
                        <a:rPr sz="1650" b="0">
                          <a:solidFill>
                            <a:srgbClr val="18362F"/>
                          </a:solidFill>
                          <a:latin typeface="Arial"/>
                          <a:ea typeface="Arial"/>
                          <a:cs typeface="Arial"/>
                        </a:rPr>
                        <a:t>0 / 80</a:t>
                      </a:r>
                    </a:p>
                  </a:txBody>
                  <a:tcPr marL="91440" marR="91440" marT="45720" marB="45720">
                    <a:lnR w="6668">
                      <a:solidFill>
                        <a:srgbClr val="D6DDD3"/>
                      </a:solidFill>
                      <a:prstDash val="solid"/>
                    </a:lnR>
                    <a:lnB w="6668">
                      <a:solidFill>
                        <a:srgbClr val="D6DDD3"/>
                      </a:solidFill>
                      <a:prstDash val="solid"/>
                    </a:lnB>
                    <a:solidFill>
                      <a:srgbClr val="F6F6EF"/>
                    </a:solidFill>
                  </a:tcPr>
                </a:tc>
                <a:tc>
                  <a:txBody>
                    <a:bodyPr/>
                    <a:lstStyle/>
                    <a:p>
                      <a:r>
                        <a:rPr sz="1650" b="0">
                          <a:solidFill>
                            <a:srgbClr val="18362F"/>
                          </a:solidFill>
                          <a:latin typeface="Arial"/>
                          <a:ea typeface="Arial"/>
                          <a:cs typeface="Arial"/>
                        </a:rPr>
                        <a:t>0.0%</a:t>
                      </a:r>
                    </a:p>
                  </a:txBody>
                  <a:tcPr marL="91440" marR="91440" marT="45720" marB="45720">
                    <a:lnR w="6668">
                      <a:solidFill>
                        <a:srgbClr val="D6DDD3"/>
                      </a:solidFill>
                      <a:prstDash val="solid"/>
                    </a:lnR>
                    <a:lnB w="6668">
                      <a:solidFill>
                        <a:srgbClr val="D6DDD3"/>
                      </a:solidFill>
                      <a:prstDash val="solid"/>
                    </a:lnB>
                    <a:solidFill>
                      <a:srgbClr val="F6F6EF"/>
                    </a:solidFill>
                  </a:tcPr>
                </a:tc>
              </a:tr>
              <a:tr h="414338">
                <a:tc>
                  <a:txBody>
                    <a:bodyPr/>
                    <a:lstStyle/>
                    <a:p>
                      <a:r>
                        <a:rPr sz="1650" b="0">
                          <a:solidFill>
                            <a:srgbClr val="18362F"/>
                          </a:solidFill>
                          <a:latin typeface="Arial"/>
                          <a:ea typeface="Arial"/>
                          <a:cs typeface="Arial"/>
                        </a:rPr>
                        <a:t>0.5B + LoRA</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E5EDE3"/>
                    </a:solidFill>
                  </a:tcPr>
                </a:tc>
                <a:tc>
                  <a:txBody>
                    <a:bodyPr/>
                    <a:lstStyle/>
                    <a:p>
                      <a:r>
                        <a:rPr sz="1650" b="0">
                          <a:solidFill>
                            <a:srgbClr val="18362F"/>
                          </a:solidFill>
                          <a:latin typeface="Arial"/>
                          <a:ea typeface="Arial"/>
                          <a:cs typeface="Arial"/>
                        </a:rPr>
                        <a:t>57 / 80</a:t>
                      </a:r>
                    </a:p>
                  </a:txBody>
                  <a:tcPr marL="91440" marR="91440" marT="45720" marB="45720">
                    <a:lnR w="6668">
                      <a:solidFill>
                        <a:srgbClr val="D6DDD3"/>
                      </a:solidFill>
                      <a:prstDash val="solid"/>
                    </a:lnR>
                    <a:lnB w="6668">
                      <a:solidFill>
                        <a:srgbClr val="D6DDD3"/>
                      </a:solidFill>
                      <a:prstDash val="solid"/>
                    </a:lnB>
                    <a:solidFill>
                      <a:srgbClr val="E5EDE3"/>
                    </a:solidFill>
                  </a:tcPr>
                </a:tc>
                <a:tc>
                  <a:txBody>
                    <a:bodyPr/>
                    <a:lstStyle/>
                    <a:p>
                      <a:r>
                        <a:rPr sz="1650" b="0">
                          <a:solidFill>
                            <a:srgbClr val="18362F"/>
                          </a:solidFill>
                          <a:latin typeface="Arial"/>
                          <a:ea typeface="Arial"/>
                          <a:cs typeface="Arial"/>
                        </a:rPr>
                        <a:t>97.5%</a:t>
                      </a:r>
                    </a:p>
                  </a:txBody>
                  <a:tcPr marL="91440" marR="91440" marT="45720" marB="45720">
                    <a:lnR w="6668">
                      <a:solidFill>
                        <a:srgbClr val="D6DDD3"/>
                      </a:solidFill>
                      <a:prstDash val="solid"/>
                    </a:lnR>
                    <a:lnB w="6668">
                      <a:solidFill>
                        <a:srgbClr val="D6DDD3"/>
                      </a:solidFill>
                      <a:prstDash val="solid"/>
                    </a:lnB>
                    <a:solidFill>
                      <a:srgbClr val="E5EDE3"/>
                    </a:solidFill>
                  </a:tcPr>
                </a:tc>
              </a:tr>
              <a:tr h="414338">
                <a:tc>
                  <a:txBody>
                    <a:bodyPr/>
                    <a:lstStyle/>
                    <a:p>
                      <a:r>
                        <a:rPr sz="1650" b="0">
                          <a:solidFill>
                            <a:srgbClr val="18362F"/>
                          </a:solidFill>
                          <a:latin typeface="Arial"/>
                          <a:ea typeface="Arial"/>
                          <a:cs typeface="Arial"/>
                        </a:rPr>
                        <a:t>7B two-shot</a:t>
                      </a:r>
                    </a:p>
                  </a:txBody>
                  <a:tcPr marL="91440" marR="91440" marT="45720" marB="45720">
                    <a:lnL w="6668">
                      <a:solidFill>
                        <a:srgbClr val="D6DDD3"/>
                      </a:solidFill>
                      <a:prstDash val="solid"/>
                    </a:lnL>
                    <a:lnR w="6668">
                      <a:solidFill>
                        <a:srgbClr val="D6DDD3"/>
                      </a:solidFill>
                      <a:prstDash val="solid"/>
                    </a:lnR>
                    <a:lnB w="6668">
                      <a:solidFill>
                        <a:srgbClr val="D6DDD3"/>
                      </a:solidFill>
                      <a:prstDash val="solid"/>
                    </a:lnB>
                    <a:solidFill>
                      <a:srgbClr val="F6F6EF"/>
                    </a:solidFill>
                  </a:tcPr>
                </a:tc>
                <a:tc>
                  <a:txBody>
                    <a:bodyPr/>
                    <a:lstStyle/>
                    <a:p>
                      <a:r>
                        <a:rPr sz="1650" b="0">
                          <a:solidFill>
                            <a:srgbClr val="18362F"/>
                          </a:solidFill>
                          <a:latin typeface="Arial"/>
                          <a:ea typeface="Arial"/>
                          <a:cs typeface="Arial"/>
                        </a:rPr>
                        <a:t>51 / 80</a:t>
                      </a:r>
                    </a:p>
                  </a:txBody>
                  <a:tcPr marL="91440" marR="91440" marT="45720" marB="45720">
                    <a:lnR w="6668">
                      <a:solidFill>
                        <a:srgbClr val="D6DDD3"/>
                      </a:solidFill>
                      <a:prstDash val="solid"/>
                    </a:lnR>
                    <a:lnB w="6668">
                      <a:solidFill>
                        <a:srgbClr val="D6DDD3"/>
                      </a:solidFill>
                      <a:prstDash val="solid"/>
                    </a:lnB>
                    <a:solidFill>
                      <a:srgbClr val="F6F6EF"/>
                    </a:solidFill>
                  </a:tcPr>
                </a:tc>
                <a:tc>
                  <a:txBody>
                    <a:bodyPr/>
                    <a:lstStyle/>
                    <a:p>
                      <a:r>
                        <a:rPr sz="1650" b="0">
                          <a:solidFill>
                            <a:srgbClr val="18362F"/>
                          </a:solidFill>
                          <a:latin typeface="Arial"/>
                          <a:ea typeface="Arial"/>
                          <a:cs typeface="Arial"/>
                        </a:rPr>
                        <a:t>93.8%</a:t>
                      </a:r>
                    </a:p>
                  </a:txBody>
                  <a:tcPr marL="91440" marR="91440" marT="45720" marB="45720">
                    <a:lnR w="6668">
                      <a:solidFill>
                        <a:srgbClr val="D6DDD3"/>
                      </a:solidFill>
                      <a:prstDash val="solid"/>
                    </a:lnR>
                    <a:lnB w="6668">
                      <a:solidFill>
                        <a:srgbClr val="D6DDD3"/>
                      </a:solidFill>
                      <a:prstDash val="solid"/>
                    </a:lnB>
                    <a:solidFill>
                      <a:srgbClr val="F6F6EF"/>
                    </a:solidFill>
                  </a:tcPr>
                </a:tc>
              </a:tr>
            </a:tbl>
          </a:graphicData>
        </a:graphic>
      </p:graphicFrame>
      <p:sp>
        <p:nvSpPr>
          <p:cNvPr id="8" name="">
            <a:extLst xmlns:a="http://schemas.openxmlformats.org/drawingml/2006/main">
              <a:ext uri="{FF2B5EF4-FFF2-40B4-BE49-F238E27FC236}">
                <a16:creationId xmlns:a16="http://schemas.microsoft.com/office/drawing/2014/main" id="{22509192-43E5-402B-BC85-210254C9922C}"/>
              </a:ext>
            </a:extLst>
          </p:cNvPr>
          <p:cNvSpPr>
            <a:spLocks xmlns:a="http://schemas.openxmlformats.org/drawingml/2006/main" noGrp="1"/>
          </p:cNvSpPr>
          <p:nvPr/>
        </p:nvSpPr>
        <p:spPr>
          <a:xfrm xmlns:a="http://schemas.openxmlformats.org/drawingml/2006/main">
            <a:off x="609600" y="60388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7168"/>
                </a:solidFill>
                <a:latin typeface="Arial"/>
                <a:ea typeface="Arial"/>
                <a:cs typeface="Arial"/>
              </a:defRPr>
            </a:defPPr>
            <a:lvl1pPr>
              <a:defRPr sz="1125" b="0">
                <a:solidFill>
                  <a:srgbClr val="5F7168"/>
                </a:solidFill>
                <a:latin typeface="Arial"/>
                <a:ea typeface="Arial"/>
                <a:cs typeface="Arial"/>
              </a:defRPr>
            </a:lvl1pPr>
            <a:lvl2pPr>
              <a:defRPr sz="1125" b="0">
                <a:solidFill>
                  <a:srgbClr val="5F7168"/>
                </a:solidFill>
                <a:latin typeface="Arial"/>
                <a:ea typeface="Arial"/>
                <a:cs typeface="Arial"/>
              </a:defRPr>
            </a:lvl2pPr>
            <a:lvl3pPr>
              <a:defRPr sz="1125" b="0">
                <a:solidFill>
                  <a:srgbClr val="5F7168"/>
                </a:solidFill>
                <a:latin typeface="Arial"/>
                <a:ea typeface="Arial"/>
                <a:cs typeface="Arial"/>
              </a:defRPr>
            </a:lvl3pPr>
            <a:lvl4pPr>
              <a:defRPr sz="1125" b="0">
                <a:solidFill>
                  <a:srgbClr val="5F7168"/>
                </a:solidFill>
                <a:latin typeface="Arial"/>
                <a:ea typeface="Arial"/>
                <a:cs typeface="Arial"/>
              </a:defRPr>
            </a:lvl4pPr>
            <a:lvl5pPr>
              <a:defRPr sz="1125" b="0">
                <a:solidFill>
                  <a:srgbClr val="5F7168"/>
                </a:solidFill>
                <a:latin typeface="Arial"/>
                <a:ea typeface="Arial"/>
                <a:cs typeface="Arial"/>
              </a:defRPr>
            </a:lvl5pPr>
            <a:lvl6pPr>
              <a:defRPr sz="1125" b="0">
                <a:solidFill>
                  <a:srgbClr val="5F7168"/>
                </a:solidFill>
                <a:latin typeface="Arial"/>
                <a:ea typeface="Arial"/>
                <a:cs typeface="Arial"/>
              </a:defRPr>
            </a:lvl6pPr>
            <a:lvl7pPr>
              <a:defRPr sz="1125" b="0">
                <a:solidFill>
                  <a:srgbClr val="5F7168"/>
                </a:solidFill>
                <a:latin typeface="Arial"/>
                <a:ea typeface="Arial"/>
                <a:cs typeface="Arial"/>
              </a:defRPr>
            </a:lvl7pPr>
            <a:lvl8pPr>
              <a:defRPr sz="1125" b="0">
                <a:solidFill>
                  <a:srgbClr val="5F7168"/>
                </a:solidFill>
                <a:latin typeface="Arial"/>
                <a:ea typeface="Arial"/>
                <a:cs typeface="Arial"/>
              </a:defRPr>
            </a:lvl8pPr>
            <a:lvl9pPr>
              <a:defRPr sz="1125" b="0">
                <a:solidFill>
                  <a:srgbClr val="5F7168"/>
                </a:solidFill>
                <a:latin typeface="Arial"/>
                <a:ea typeface="Arial"/>
                <a:cs typeface="Arial"/>
              </a:defRPr>
            </a:lvl9pPr>
          </a:lstStyle>
          <a:p xmlns:a="http://schemas.openxmlformats.org/drawingml/2006/main">
            <a:pPr>
              <a:defRPr sz="1125" b="0">
                <a:solidFill>
                  <a:srgbClr val="5F7168"/>
                </a:solidFill>
                <a:latin typeface="Arial"/>
                <a:ea typeface="Arial"/>
                <a:cs typeface="Arial"/>
              </a:defRPr>
            </a:pPr>
            <a:r>
              <a:rPr sz="1125" b="0">
                <a:solidFill>
                  <a:srgbClr val="5F7168"/>
                </a:solidFill>
                <a:latin typeface="Arial"/>
                <a:ea typeface="Arial"/>
                <a:cs typeface="Arial"/>
              </a:rPr>
              <a:t>80 inputs in 20 groups. Strict JSON without repair. Different quantization and prompting.</a:t>
            </a:r>
          </a:p>
        </p:txBody>
      </p:sp>
    </p:spTree>
    <p:extLst>
      <p:ext uri="{BB962C8B-B14F-4D97-AF65-F5344CB8AC3E}">
        <p14:creationId xmlns:p14="http://schemas.microsoft.com/office/powerpoint/2010/main" val="2059164715"/>
      </p:ext>
    </p:extLst>
  </p:cSld>
</p:sld>
</file>

<file path=ppt/slides/slide5.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5DCBE2-006A-4F7D-BBB6-5C5137A3705B}"/>
              </a:ext>
            </a:extLst>
          </p:cNvPr>
          <p:cNvSpPr>
            <a:spLocks xmlns:a="http://schemas.openxmlformats.org/drawingml/2006/main" noGrp="1"/>
          </p:cNvSpPr>
          <p:nvPr/>
        </p:nvSpPr>
        <p:spPr>
          <a:xfrm xmlns:a="http://schemas.openxmlformats.org/drawingml/2006/main">
            <a:off x="609600" y="266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RECENT AREAS OF AI  /  HYOJIN LEE</a:t>
            </a:r>
          </a:p>
        </p:txBody>
      </p:sp>
      <p:sp>
        <p:nvSpPr>
          <p:cNvPr id="2" name="">
            <a:extLst xmlns:a="http://schemas.openxmlformats.org/drawingml/2006/main">
              <a:ext uri="{FF2B5EF4-FFF2-40B4-BE49-F238E27FC236}">
                <a16:creationId xmlns:a16="http://schemas.microsoft.com/office/drawing/2014/main" id="{F58404DE-C34A-41D8-8C06-E753000244BA}"/>
              </a:ext>
            </a:extLst>
          </p:cNvPr>
          <p:cNvSpPr>
            <a:spLocks xmlns:a="http://schemas.openxmlformats.org/drawingml/2006/main" noGrp="1"/>
          </p:cNvSpPr>
          <p:nvPr/>
        </p:nvSpPr>
        <p:spPr>
          <a:xfrm xmlns:a="http://schemas.openxmlformats.org/drawingml/2006/main">
            <a:off x="10972800" y="2667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112B721-3ACA-4B05-8C39-AD62DB302E7F}"/>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62F"/>
                </a:solidFill>
                <a:latin typeface="Arial"/>
                <a:ea typeface="Arial"/>
                <a:cs typeface="Arial"/>
              </a:defRPr>
            </a:defPPr>
            <a:lvl1pPr>
              <a:defRPr sz="3300" b="1">
                <a:solidFill>
                  <a:srgbClr val="18362F"/>
                </a:solidFill>
                <a:latin typeface="Arial"/>
                <a:ea typeface="Arial"/>
                <a:cs typeface="Arial"/>
              </a:defRPr>
            </a:lvl1pPr>
            <a:lvl2pPr>
              <a:defRPr sz="3300" b="1">
                <a:solidFill>
                  <a:srgbClr val="18362F"/>
                </a:solidFill>
                <a:latin typeface="Arial"/>
                <a:ea typeface="Arial"/>
                <a:cs typeface="Arial"/>
              </a:defRPr>
            </a:lvl2pPr>
            <a:lvl3pPr>
              <a:defRPr sz="3300" b="1">
                <a:solidFill>
                  <a:srgbClr val="18362F"/>
                </a:solidFill>
                <a:latin typeface="Arial"/>
                <a:ea typeface="Arial"/>
                <a:cs typeface="Arial"/>
              </a:defRPr>
            </a:lvl3pPr>
            <a:lvl4pPr>
              <a:defRPr sz="3300" b="1">
                <a:solidFill>
                  <a:srgbClr val="18362F"/>
                </a:solidFill>
                <a:latin typeface="Arial"/>
                <a:ea typeface="Arial"/>
                <a:cs typeface="Arial"/>
              </a:defRPr>
            </a:lvl4pPr>
            <a:lvl5pPr>
              <a:defRPr sz="3300" b="1">
                <a:solidFill>
                  <a:srgbClr val="18362F"/>
                </a:solidFill>
                <a:latin typeface="Arial"/>
                <a:ea typeface="Arial"/>
                <a:cs typeface="Arial"/>
              </a:defRPr>
            </a:lvl5pPr>
            <a:lvl6pPr>
              <a:defRPr sz="3300" b="1">
                <a:solidFill>
                  <a:srgbClr val="18362F"/>
                </a:solidFill>
                <a:latin typeface="Arial"/>
                <a:ea typeface="Arial"/>
                <a:cs typeface="Arial"/>
              </a:defRPr>
            </a:lvl6pPr>
            <a:lvl7pPr>
              <a:defRPr sz="3300" b="1">
                <a:solidFill>
                  <a:srgbClr val="18362F"/>
                </a:solidFill>
                <a:latin typeface="Arial"/>
                <a:ea typeface="Arial"/>
                <a:cs typeface="Arial"/>
              </a:defRPr>
            </a:lvl7pPr>
            <a:lvl8pPr>
              <a:defRPr sz="3300" b="1">
                <a:solidFill>
                  <a:srgbClr val="18362F"/>
                </a:solidFill>
                <a:latin typeface="Arial"/>
                <a:ea typeface="Arial"/>
                <a:cs typeface="Arial"/>
              </a:defRPr>
            </a:lvl8pPr>
            <a:lvl9pPr>
              <a:defRPr sz="3300" b="1">
                <a:solidFill>
                  <a:srgbClr val="18362F"/>
                </a:solidFill>
                <a:latin typeface="Arial"/>
                <a:ea typeface="Arial"/>
                <a:cs typeface="Arial"/>
              </a:defRPr>
            </a:lvl9pPr>
          </a:lstStyle>
          <a:p xmlns:a="http://schemas.openxmlformats.org/drawingml/2006/main">
            <a:pPr>
              <a:defRPr sz="3300" b="1">
                <a:solidFill>
                  <a:srgbClr val="18362F"/>
                </a:solidFill>
                <a:latin typeface="Arial"/>
                <a:ea typeface="Arial"/>
                <a:cs typeface="Arial"/>
              </a:defRPr>
            </a:pPr>
            <a:r>
              <a:rPr sz="3300" b="1">
                <a:solidFill>
                  <a:srgbClr val="18362F"/>
                </a:solidFill>
                <a:latin typeface="Arial"/>
                <a:ea typeface="Arial"/>
                <a:cs typeface="Arial"/>
              </a:rPr>
              <a:t>Conditional London demonstration</a:t>
            </a:r>
          </a:p>
        </p:txBody>
      </p:sp>
      <p:sp>
        <p:nvSpPr>
          <p:cNvPr id="4" name="">
            <a:extLst xmlns:a="http://schemas.openxmlformats.org/drawingml/2006/main">
              <a:ext uri="{FF2B5EF4-FFF2-40B4-BE49-F238E27FC236}">
                <a16:creationId xmlns:a16="http://schemas.microsoft.com/office/drawing/2014/main" id="{12B351AA-FB48-41FC-8A8D-7BB9B86FE18F}"/>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A63C106-DBAB-48CC-BB1D-FEB9FCE2A08E}"/>
              </a:ext>
            </a:extLst>
          </p:cNvPr>
          <p:cNvSpPr>
            <a:spLocks xmlns:a="http://schemas.openxmlformats.org/drawingml/2006/main" noGrp="1"/>
          </p:cNvSpPr>
          <p:nvPr/>
        </p:nvSpPr>
        <p:spPr>
          <a:xfrm xmlns:a="http://schemas.openxmlformats.org/drawingml/2006/main">
            <a:off x="609600" y="64674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F7168"/>
                </a:solidFill>
                <a:latin typeface="Arial"/>
                <a:ea typeface="Arial"/>
                <a:cs typeface="Arial"/>
              </a:defRPr>
            </a:defPPr>
            <a:lvl1pPr>
              <a:defRPr sz="1050" b="0">
                <a:solidFill>
                  <a:srgbClr val="5F7168"/>
                </a:solidFill>
                <a:latin typeface="Arial"/>
                <a:ea typeface="Arial"/>
                <a:cs typeface="Arial"/>
              </a:defRPr>
            </a:lvl1pPr>
            <a:lvl2pPr>
              <a:defRPr sz="1050" b="0">
                <a:solidFill>
                  <a:srgbClr val="5F7168"/>
                </a:solidFill>
                <a:latin typeface="Arial"/>
                <a:ea typeface="Arial"/>
                <a:cs typeface="Arial"/>
              </a:defRPr>
            </a:lvl2pPr>
            <a:lvl3pPr>
              <a:defRPr sz="1050" b="0">
                <a:solidFill>
                  <a:srgbClr val="5F7168"/>
                </a:solidFill>
                <a:latin typeface="Arial"/>
                <a:ea typeface="Arial"/>
                <a:cs typeface="Arial"/>
              </a:defRPr>
            </a:lvl3pPr>
            <a:lvl4pPr>
              <a:defRPr sz="1050" b="0">
                <a:solidFill>
                  <a:srgbClr val="5F7168"/>
                </a:solidFill>
                <a:latin typeface="Arial"/>
                <a:ea typeface="Arial"/>
                <a:cs typeface="Arial"/>
              </a:defRPr>
            </a:lvl4pPr>
            <a:lvl5pPr>
              <a:defRPr sz="1050" b="0">
                <a:solidFill>
                  <a:srgbClr val="5F7168"/>
                </a:solidFill>
                <a:latin typeface="Arial"/>
                <a:ea typeface="Arial"/>
                <a:cs typeface="Arial"/>
              </a:defRPr>
            </a:lvl5pPr>
            <a:lvl6pPr>
              <a:defRPr sz="1050" b="0">
                <a:solidFill>
                  <a:srgbClr val="5F7168"/>
                </a:solidFill>
                <a:latin typeface="Arial"/>
                <a:ea typeface="Arial"/>
                <a:cs typeface="Arial"/>
              </a:defRPr>
            </a:lvl6pPr>
            <a:lvl7pPr>
              <a:defRPr sz="1050" b="0">
                <a:solidFill>
                  <a:srgbClr val="5F7168"/>
                </a:solidFill>
                <a:latin typeface="Arial"/>
                <a:ea typeface="Arial"/>
                <a:cs typeface="Arial"/>
              </a:defRPr>
            </a:lvl7pPr>
            <a:lvl8pPr>
              <a:defRPr sz="1050" b="0">
                <a:solidFill>
                  <a:srgbClr val="5F7168"/>
                </a:solidFill>
                <a:latin typeface="Arial"/>
                <a:ea typeface="Arial"/>
                <a:cs typeface="Arial"/>
              </a:defRPr>
            </a:lvl8pPr>
            <a:lvl9pPr>
              <a:defRPr sz="1050" b="0">
                <a:solidFill>
                  <a:srgbClr val="5F7168"/>
                </a:solidFill>
                <a:latin typeface="Arial"/>
                <a:ea typeface="Arial"/>
                <a:cs typeface="Arial"/>
              </a:defRPr>
            </a:lvl9pPr>
          </a:lstStyle>
          <a:p xmlns:a="http://schemas.openxmlformats.org/drawingml/2006/main">
            <a:pPr>
              <a:defRPr sz="1050" b="0">
                <a:solidFill>
                  <a:srgbClr val="5F7168"/>
                </a:solidFill>
                <a:latin typeface="Arial"/>
                <a:ea typeface="Arial"/>
                <a:cs typeface="Arial"/>
              </a:defRPr>
            </a:pPr>
            <a:r>
              <a:rPr sz="1050" b="0">
                <a:solidFill>
                  <a:srgbClr val="5F7168"/>
                </a:solidFill>
                <a:latin typeface="Arial"/>
                <a:ea typeface="Arial"/>
                <a:cs typeface="Arial"/>
              </a:rPr>
              <a:t>Travel Constraint Extraction · 2026</a:t>
            </a:r>
          </a:p>
        </p:txBody>
      </p:sp>
      <p:pic>
        <p:nvPicPr>
          <p:cNvPr id="6" name="">
            <a:extLst xmlns:a="http://schemas.openxmlformats.org/drawingml/2006/main">
              <a:ext uri="{FF2B5EF4-FFF2-40B4-BE49-F238E27FC236}">
                <a16:creationId xmlns:a16="http://schemas.microsoft.com/office/drawing/2014/main" id="{04C4FFAC-4CD4-4725-9389-054DE3E261E2}"/>
              </a:ext>
            </a:extLst>
          </p:cNvPr>
          <p:cNvPicPr>
            <a:picLocks xmlns:a="http://schemas.openxmlformats.org/drawingml/2006/main" noChangeAspect="1"/>
          </p:cNvPicPr>
          <p:nvPr/>
        </p:nvPicPr>
        <p:blipFill>
          <a:blip xmlns:r="http://schemas.openxmlformats.org/officeDocument/2006/relationships" xmlns:a="http://schemas.openxmlformats.org/drawingml/2006/main" r:embed="R397031f7eec0426d"/>
          <a:stretch xmlns:a="http://schemas.openxmlformats.org/drawingml/2006/main"/>
        </p:blipFill>
        <p:spPr>
          <a:xfrm xmlns:a="http://schemas.openxmlformats.org/drawingml/2006/main">
            <a:off x="1236953" y="1533525"/>
            <a:ext cx="5774743" cy="42767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0EB183-776F-4ED2-A9CC-C680E1D2B316}"/>
              </a:ext>
            </a:extLst>
          </p:cNvPr>
          <p:cNvSpPr>
            <a:spLocks xmlns:a="http://schemas.openxmlformats.org/drawingml/2006/main" noGrp="1"/>
          </p:cNvSpPr>
          <p:nvPr/>
        </p:nvSpPr>
        <p:spPr>
          <a:xfrm xmlns:a="http://schemas.openxmlformats.org/drawingml/2006/main">
            <a:off x="8010525" y="1724025"/>
            <a:ext cx="3419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5D51"/>
                </a:solidFill>
                <a:latin typeface="Arial"/>
                <a:ea typeface="Arial"/>
                <a:cs typeface="Arial"/>
              </a:defRPr>
            </a:defPPr>
            <a:lvl1pPr>
              <a:defRPr sz="2025" b="1">
                <a:solidFill>
                  <a:srgbClr val="245D51"/>
                </a:solidFill>
                <a:latin typeface="Arial"/>
                <a:ea typeface="Arial"/>
                <a:cs typeface="Arial"/>
              </a:defRPr>
            </a:lvl1pPr>
            <a:lvl2pPr>
              <a:defRPr sz="2025" b="1">
                <a:solidFill>
                  <a:srgbClr val="245D51"/>
                </a:solidFill>
                <a:latin typeface="Arial"/>
                <a:ea typeface="Arial"/>
                <a:cs typeface="Arial"/>
              </a:defRPr>
            </a:lvl2pPr>
            <a:lvl3pPr>
              <a:defRPr sz="2025" b="1">
                <a:solidFill>
                  <a:srgbClr val="245D51"/>
                </a:solidFill>
                <a:latin typeface="Arial"/>
                <a:ea typeface="Arial"/>
                <a:cs typeface="Arial"/>
              </a:defRPr>
            </a:lvl3pPr>
            <a:lvl4pPr>
              <a:defRPr sz="2025" b="1">
                <a:solidFill>
                  <a:srgbClr val="245D51"/>
                </a:solidFill>
                <a:latin typeface="Arial"/>
                <a:ea typeface="Arial"/>
                <a:cs typeface="Arial"/>
              </a:defRPr>
            </a:lvl4pPr>
            <a:lvl5pPr>
              <a:defRPr sz="2025" b="1">
                <a:solidFill>
                  <a:srgbClr val="245D51"/>
                </a:solidFill>
                <a:latin typeface="Arial"/>
                <a:ea typeface="Arial"/>
                <a:cs typeface="Arial"/>
              </a:defRPr>
            </a:lvl5pPr>
            <a:lvl6pPr>
              <a:defRPr sz="2025" b="1">
                <a:solidFill>
                  <a:srgbClr val="245D51"/>
                </a:solidFill>
                <a:latin typeface="Arial"/>
                <a:ea typeface="Arial"/>
                <a:cs typeface="Arial"/>
              </a:defRPr>
            </a:lvl6pPr>
            <a:lvl7pPr>
              <a:defRPr sz="2025" b="1">
                <a:solidFill>
                  <a:srgbClr val="245D51"/>
                </a:solidFill>
                <a:latin typeface="Arial"/>
                <a:ea typeface="Arial"/>
                <a:cs typeface="Arial"/>
              </a:defRPr>
            </a:lvl7pPr>
            <a:lvl8pPr>
              <a:defRPr sz="2025" b="1">
                <a:solidFill>
                  <a:srgbClr val="245D51"/>
                </a:solidFill>
                <a:latin typeface="Arial"/>
                <a:ea typeface="Arial"/>
                <a:cs typeface="Arial"/>
              </a:defRPr>
            </a:lvl8pPr>
            <a:lvl9pPr>
              <a:defRPr sz="2025" b="1">
                <a:solidFill>
                  <a:srgbClr val="245D51"/>
                </a:solidFill>
                <a:latin typeface="Arial"/>
                <a:ea typeface="Arial"/>
                <a:cs typeface="Arial"/>
              </a:defRPr>
            </a:lvl9pPr>
          </a:lstStyle>
          <a:p xmlns:a="http://schemas.openxmlformats.org/drawingml/2006/main">
            <a:pPr>
              <a:defRPr sz="2025" b="1">
                <a:solidFill>
                  <a:srgbClr val="245D51"/>
                </a:solidFill>
                <a:latin typeface="Arial"/>
                <a:ea typeface="Arial"/>
                <a:cs typeface="Arial"/>
              </a:defRPr>
            </a:pPr>
            <a:r>
              <a:rPr sz="2025" b="1">
                <a:solidFill>
                  <a:srgbClr val="245D51"/>
                </a:solidFill>
                <a:latin typeface="Arial"/>
                <a:ea typeface="Arial"/>
                <a:cs typeface="Arial"/>
              </a:rPr>
              <a:t>Forecast or simulation</a:t>
            </a:r>
          </a:p>
        </p:txBody>
      </p:sp>
      <p:sp>
        <p:nvSpPr>
          <p:cNvPr id="8" name="">
            <a:extLst xmlns:a="http://schemas.openxmlformats.org/drawingml/2006/main">
              <a:ext uri="{FF2B5EF4-FFF2-40B4-BE49-F238E27FC236}">
                <a16:creationId xmlns:a16="http://schemas.microsoft.com/office/drawing/2014/main" id="{27CB0D1D-48E2-46A4-A7E3-B598AC1E3CEB}"/>
              </a:ext>
            </a:extLst>
          </p:cNvPr>
          <p:cNvSpPr>
            <a:spLocks xmlns:a="http://schemas.openxmlformats.org/drawingml/2006/main" noGrp="1"/>
          </p:cNvSpPr>
          <p:nvPr/>
        </p:nvSpPr>
        <p:spPr>
          <a:xfrm xmlns:a="http://schemas.openxmlformats.org/drawingml/2006/main">
            <a:off x="8010525" y="2438400"/>
            <a:ext cx="34194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2F"/>
                </a:solidFill>
                <a:latin typeface="Arial"/>
                <a:ea typeface="Arial"/>
                <a:cs typeface="Arial"/>
              </a:defRPr>
            </a:defPPr>
            <a:lvl1pPr>
              <a:defRPr sz="1875" b="0">
                <a:solidFill>
                  <a:srgbClr val="18362F"/>
                </a:solidFill>
                <a:latin typeface="Arial"/>
                <a:ea typeface="Arial"/>
                <a:cs typeface="Arial"/>
              </a:defRPr>
            </a:lvl1pPr>
            <a:lvl2pPr>
              <a:defRPr sz="1875" b="0">
                <a:solidFill>
                  <a:srgbClr val="18362F"/>
                </a:solidFill>
                <a:latin typeface="Arial"/>
                <a:ea typeface="Arial"/>
                <a:cs typeface="Arial"/>
              </a:defRPr>
            </a:lvl2pPr>
            <a:lvl3pPr>
              <a:defRPr sz="1875" b="0">
                <a:solidFill>
                  <a:srgbClr val="18362F"/>
                </a:solidFill>
                <a:latin typeface="Arial"/>
                <a:ea typeface="Arial"/>
                <a:cs typeface="Arial"/>
              </a:defRPr>
            </a:lvl3pPr>
            <a:lvl4pPr>
              <a:defRPr sz="1875" b="0">
                <a:solidFill>
                  <a:srgbClr val="18362F"/>
                </a:solidFill>
                <a:latin typeface="Arial"/>
                <a:ea typeface="Arial"/>
                <a:cs typeface="Arial"/>
              </a:defRPr>
            </a:lvl4pPr>
            <a:lvl5pPr>
              <a:defRPr sz="1875" b="0">
                <a:solidFill>
                  <a:srgbClr val="18362F"/>
                </a:solidFill>
                <a:latin typeface="Arial"/>
                <a:ea typeface="Arial"/>
                <a:cs typeface="Arial"/>
              </a:defRPr>
            </a:lvl5pPr>
            <a:lvl6pPr>
              <a:defRPr sz="1875" b="0">
                <a:solidFill>
                  <a:srgbClr val="18362F"/>
                </a:solidFill>
                <a:latin typeface="Arial"/>
                <a:ea typeface="Arial"/>
                <a:cs typeface="Arial"/>
              </a:defRPr>
            </a:lvl6pPr>
            <a:lvl7pPr>
              <a:defRPr sz="1875" b="0">
                <a:solidFill>
                  <a:srgbClr val="18362F"/>
                </a:solidFill>
                <a:latin typeface="Arial"/>
                <a:ea typeface="Arial"/>
                <a:cs typeface="Arial"/>
              </a:defRPr>
            </a:lvl7pPr>
            <a:lvl8pPr>
              <a:defRPr sz="1875" b="0">
                <a:solidFill>
                  <a:srgbClr val="18362F"/>
                </a:solidFill>
                <a:latin typeface="Arial"/>
                <a:ea typeface="Arial"/>
                <a:cs typeface="Arial"/>
              </a:defRPr>
            </a:lvl8pPr>
            <a:lvl9pPr>
              <a:defRPr sz="1875" b="0">
                <a:solidFill>
                  <a:srgbClr val="18362F"/>
                </a:solidFill>
                <a:latin typeface="Arial"/>
                <a:ea typeface="Arial"/>
                <a:cs typeface="Arial"/>
              </a:defRPr>
            </a:lvl9pPr>
          </a:lstStyle>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Rain</a:t>
            </a:r>
          </a:p>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Replace the outdoor walk</a:t>
            </a:r>
          </a:p>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with a book-cafe category</a:t>
            </a:r>
          </a:p>
        </p:txBody>
      </p:sp>
      <p:sp>
        <p:nvSpPr>
          <p:cNvPr id="9" name="">
            <a:extLst xmlns:a="http://schemas.openxmlformats.org/drawingml/2006/main">
              <a:ext uri="{FF2B5EF4-FFF2-40B4-BE49-F238E27FC236}">
                <a16:creationId xmlns:a16="http://schemas.microsoft.com/office/drawing/2014/main" id="{F7579AC2-C7E0-4AFA-9686-50D544D038EB}"/>
              </a:ext>
            </a:extLst>
          </p:cNvPr>
          <p:cNvSpPr>
            <a:spLocks xmlns:a="http://schemas.openxmlformats.org/drawingml/2006/main" noGrp="1"/>
          </p:cNvSpPr>
          <p:nvPr/>
        </p:nvSpPr>
        <p:spPr>
          <a:xfrm xmlns:a="http://schemas.openxmlformats.org/drawingml/2006/main">
            <a:off x="8010525" y="3771900"/>
            <a:ext cx="3419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2F"/>
                </a:solidFill>
                <a:latin typeface="Arial"/>
                <a:ea typeface="Arial"/>
                <a:cs typeface="Arial"/>
              </a:defRPr>
            </a:defPPr>
            <a:lvl1pPr>
              <a:defRPr sz="1875" b="0">
                <a:solidFill>
                  <a:srgbClr val="18362F"/>
                </a:solidFill>
                <a:latin typeface="Arial"/>
                <a:ea typeface="Arial"/>
                <a:cs typeface="Arial"/>
              </a:defRPr>
            </a:lvl1pPr>
            <a:lvl2pPr>
              <a:defRPr sz="1875" b="0">
                <a:solidFill>
                  <a:srgbClr val="18362F"/>
                </a:solidFill>
                <a:latin typeface="Arial"/>
                <a:ea typeface="Arial"/>
                <a:cs typeface="Arial"/>
              </a:defRPr>
            </a:lvl2pPr>
            <a:lvl3pPr>
              <a:defRPr sz="1875" b="0">
                <a:solidFill>
                  <a:srgbClr val="18362F"/>
                </a:solidFill>
                <a:latin typeface="Arial"/>
                <a:ea typeface="Arial"/>
                <a:cs typeface="Arial"/>
              </a:defRPr>
            </a:lvl3pPr>
            <a:lvl4pPr>
              <a:defRPr sz="1875" b="0">
                <a:solidFill>
                  <a:srgbClr val="18362F"/>
                </a:solidFill>
                <a:latin typeface="Arial"/>
                <a:ea typeface="Arial"/>
                <a:cs typeface="Arial"/>
              </a:defRPr>
            </a:lvl4pPr>
            <a:lvl5pPr>
              <a:defRPr sz="1875" b="0">
                <a:solidFill>
                  <a:srgbClr val="18362F"/>
                </a:solidFill>
                <a:latin typeface="Arial"/>
                <a:ea typeface="Arial"/>
                <a:cs typeface="Arial"/>
              </a:defRPr>
            </a:lvl5pPr>
            <a:lvl6pPr>
              <a:defRPr sz="1875" b="0">
                <a:solidFill>
                  <a:srgbClr val="18362F"/>
                </a:solidFill>
                <a:latin typeface="Arial"/>
                <a:ea typeface="Arial"/>
                <a:cs typeface="Arial"/>
              </a:defRPr>
            </a:lvl6pPr>
            <a:lvl7pPr>
              <a:defRPr sz="1875" b="0">
                <a:solidFill>
                  <a:srgbClr val="18362F"/>
                </a:solidFill>
                <a:latin typeface="Arial"/>
                <a:ea typeface="Arial"/>
                <a:cs typeface="Arial"/>
              </a:defRPr>
            </a:lvl7pPr>
            <a:lvl8pPr>
              <a:defRPr sz="1875" b="0">
                <a:solidFill>
                  <a:srgbClr val="18362F"/>
                </a:solidFill>
                <a:latin typeface="Arial"/>
                <a:ea typeface="Arial"/>
                <a:cs typeface="Arial"/>
              </a:defRPr>
            </a:lvl8pPr>
            <a:lvl9pPr>
              <a:defRPr sz="1875" b="0">
                <a:solidFill>
                  <a:srgbClr val="18362F"/>
                </a:solidFill>
                <a:latin typeface="Arial"/>
                <a:ea typeface="Arial"/>
                <a:cs typeface="Arial"/>
              </a:defRPr>
            </a:lvl9pPr>
          </a:lstStyle>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Dry</a:t>
            </a:r>
          </a:p>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Keep the planned walk</a:t>
            </a:r>
          </a:p>
        </p:txBody>
      </p:sp>
      <p:sp>
        <p:nvSpPr>
          <p:cNvPr id="10" name="">
            <a:extLst xmlns:a="http://schemas.openxmlformats.org/drawingml/2006/main">
              <a:ext uri="{FF2B5EF4-FFF2-40B4-BE49-F238E27FC236}">
                <a16:creationId xmlns:a16="http://schemas.microsoft.com/office/drawing/2014/main" id="{07F7C608-5540-407A-AEBA-DFCF9400DDB7}"/>
              </a:ext>
            </a:extLst>
          </p:cNvPr>
          <p:cNvSpPr>
            <a:spLocks xmlns:a="http://schemas.openxmlformats.org/drawingml/2006/main" noGrp="1"/>
          </p:cNvSpPr>
          <p:nvPr/>
        </p:nvSpPr>
        <p:spPr>
          <a:xfrm xmlns:a="http://schemas.openxmlformats.org/drawingml/2006/main">
            <a:off x="8010525" y="4781550"/>
            <a:ext cx="34194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2F"/>
                </a:solidFill>
                <a:latin typeface="Arial"/>
                <a:ea typeface="Arial"/>
                <a:cs typeface="Arial"/>
              </a:defRPr>
            </a:defPPr>
            <a:lvl1pPr>
              <a:defRPr sz="1875" b="0">
                <a:solidFill>
                  <a:srgbClr val="18362F"/>
                </a:solidFill>
                <a:latin typeface="Arial"/>
                <a:ea typeface="Arial"/>
                <a:cs typeface="Arial"/>
              </a:defRPr>
            </a:lvl1pPr>
            <a:lvl2pPr>
              <a:defRPr sz="1875" b="0">
                <a:solidFill>
                  <a:srgbClr val="18362F"/>
                </a:solidFill>
                <a:latin typeface="Arial"/>
                <a:ea typeface="Arial"/>
                <a:cs typeface="Arial"/>
              </a:defRPr>
            </a:lvl2pPr>
            <a:lvl3pPr>
              <a:defRPr sz="1875" b="0">
                <a:solidFill>
                  <a:srgbClr val="18362F"/>
                </a:solidFill>
                <a:latin typeface="Arial"/>
                <a:ea typeface="Arial"/>
                <a:cs typeface="Arial"/>
              </a:defRPr>
            </a:lvl3pPr>
            <a:lvl4pPr>
              <a:defRPr sz="1875" b="0">
                <a:solidFill>
                  <a:srgbClr val="18362F"/>
                </a:solidFill>
                <a:latin typeface="Arial"/>
                <a:ea typeface="Arial"/>
                <a:cs typeface="Arial"/>
              </a:defRPr>
            </a:lvl4pPr>
            <a:lvl5pPr>
              <a:defRPr sz="1875" b="0">
                <a:solidFill>
                  <a:srgbClr val="18362F"/>
                </a:solidFill>
                <a:latin typeface="Arial"/>
                <a:ea typeface="Arial"/>
                <a:cs typeface="Arial"/>
              </a:defRPr>
            </a:lvl5pPr>
            <a:lvl6pPr>
              <a:defRPr sz="1875" b="0">
                <a:solidFill>
                  <a:srgbClr val="18362F"/>
                </a:solidFill>
                <a:latin typeface="Arial"/>
                <a:ea typeface="Arial"/>
                <a:cs typeface="Arial"/>
              </a:defRPr>
            </a:lvl6pPr>
            <a:lvl7pPr>
              <a:defRPr sz="1875" b="0">
                <a:solidFill>
                  <a:srgbClr val="18362F"/>
                </a:solidFill>
                <a:latin typeface="Arial"/>
                <a:ea typeface="Arial"/>
                <a:cs typeface="Arial"/>
              </a:defRPr>
            </a:lvl7pPr>
            <a:lvl8pPr>
              <a:defRPr sz="1875" b="0">
                <a:solidFill>
                  <a:srgbClr val="18362F"/>
                </a:solidFill>
                <a:latin typeface="Arial"/>
                <a:ea typeface="Arial"/>
                <a:cs typeface="Arial"/>
              </a:defRPr>
            </a:lvl8pPr>
            <a:lvl9pPr>
              <a:defRPr sz="1875" b="0">
                <a:solidFill>
                  <a:srgbClr val="18362F"/>
                </a:solidFill>
                <a:latin typeface="Arial"/>
                <a:ea typeface="Arial"/>
                <a:cs typeface="Arial"/>
              </a:defRPr>
            </a:lvl9pPr>
          </a:lstStyle>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Unknown</a:t>
            </a:r>
          </a:p>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Keep both branches pending</a:t>
            </a:r>
          </a:p>
        </p:txBody>
      </p:sp>
      <p:sp>
        <p:nvSpPr>
          <p:cNvPr id="11" name="">
            <a:extLst xmlns:a="http://schemas.openxmlformats.org/drawingml/2006/main">
              <a:ext uri="{FF2B5EF4-FFF2-40B4-BE49-F238E27FC236}">
                <a16:creationId xmlns:a16="http://schemas.microsoft.com/office/drawing/2014/main" id="{4A1B83EE-E99A-44CC-B1B9-71AB0C994CB5}"/>
              </a:ext>
            </a:extLst>
          </p:cNvPr>
          <p:cNvSpPr>
            <a:spLocks xmlns:a="http://schemas.openxmlformats.org/drawingml/2006/main" noGrp="1"/>
          </p:cNvSpPr>
          <p:nvPr/>
        </p:nvSpPr>
        <p:spPr>
          <a:xfrm xmlns:a="http://schemas.openxmlformats.org/drawingml/2006/main">
            <a:off x="609600" y="601980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7168"/>
                </a:solidFill>
                <a:latin typeface="Arial"/>
                <a:ea typeface="Arial"/>
                <a:cs typeface="Arial"/>
              </a:defRPr>
            </a:defPPr>
            <a:lvl1pPr>
              <a:defRPr sz="1200" b="0">
                <a:solidFill>
                  <a:srgbClr val="5F7168"/>
                </a:solidFill>
                <a:latin typeface="Arial"/>
                <a:ea typeface="Arial"/>
                <a:cs typeface="Arial"/>
              </a:defRPr>
            </a:lvl1pPr>
            <a:lvl2pPr>
              <a:defRPr sz="1200" b="0">
                <a:solidFill>
                  <a:srgbClr val="5F7168"/>
                </a:solidFill>
                <a:latin typeface="Arial"/>
                <a:ea typeface="Arial"/>
                <a:cs typeface="Arial"/>
              </a:defRPr>
            </a:lvl2pPr>
            <a:lvl3pPr>
              <a:defRPr sz="1200" b="0">
                <a:solidFill>
                  <a:srgbClr val="5F7168"/>
                </a:solidFill>
                <a:latin typeface="Arial"/>
                <a:ea typeface="Arial"/>
                <a:cs typeface="Arial"/>
              </a:defRPr>
            </a:lvl3pPr>
            <a:lvl4pPr>
              <a:defRPr sz="1200" b="0">
                <a:solidFill>
                  <a:srgbClr val="5F7168"/>
                </a:solidFill>
                <a:latin typeface="Arial"/>
                <a:ea typeface="Arial"/>
                <a:cs typeface="Arial"/>
              </a:defRPr>
            </a:lvl4pPr>
            <a:lvl5pPr>
              <a:defRPr sz="1200" b="0">
                <a:solidFill>
                  <a:srgbClr val="5F7168"/>
                </a:solidFill>
                <a:latin typeface="Arial"/>
                <a:ea typeface="Arial"/>
                <a:cs typeface="Arial"/>
              </a:defRPr>
            </a:lvl5pPr>
            <a:lvl6pPr>
              <a:defRPr sz="1200" b="0">
                <a:solidFill>
                  <a:srgbClr val="5F7168"/>
                </a:solidFill>
                <a:latin typeface="Arial"/>
                <a:ea typeface="Arial"/>
                <a:cs typeface="Arial"/>
              </a:defRPr>
            </a:lvl6pPr>
            <a:lvl7pPr>
              <a:defRPr sz="1200" b="0">
                <a:solidFill>
                  <a:srgbClr val="5F7168"/>
                </a:solidFill>
                <a:latin typeface="Arial"/>
                <a:ea typeface="Arial"/>
                <a:cs typeface="Arial"/>
              </a:defRPr>
            </a:lvl7pPr>
            <a:lvl8pPr>
              <a:defRPr sz="1200" b="0">
                <a:solidFill>
                  <a:srgbClr val="5F7168"/>
                </a:solidFill>
                <a:latin typeface="Arial"/>
                <a:ea typeface="Arial"/>
                <a:cs typeface="Arial"/>
              </a:defRPr>
            </a:lvl8pPr>
            <a:lvl9pPr>
              <a:defRPr sz="1200" b="0">
                <a:solidFill>
                  <a:srgbClr val="5F7168"/>
                </a:solidFill>
                <a:latin typeface="Arial"/>
                <a:ea typeface="Arial"/>
                <a:cs typeface="Arial"/>
              </a:defRPr>
            </a:lvl9pPr>
          </a:lstStyle>
          <a:p xmlns:a="http://schemas.openxmlformats.org/drawingml/2006/main">
            <a:pPr>
              <a:defRPr sz="1200" b="0">
                <a:solidFill>
                  <a:srgbClr val="5F7168"/>
                </a:solidFill>
                <a:latin typeface="Arial"/>
                <a:ea typeface="Arial"/>
                <a:cs typeface="Arial"/>
              </a:defRPr>
            </a:pPr>
            <a:r>
              <a:rPr sz="1200" b="0">
                <a:solidFill>
                  <a:srgbClr val="5F7168"/>
                </a:solidFill>
                <a:latin typeface="Arial"/>
                <a:ea typeface="Arial"/>
                <a:cs typeface="Arial"/>
              </a:rPr>
              <a:t>Actual saved validation output. Live mode uses the published LoRA adapter.</a:t>
            </a:r>
          </a:p>
        </p:txBody>
      </p:sp>
    </p:spTree>
    <p:extLst>
      <p:ext uri="{BB962C8B-B14F-4D97-AF65-F5344CB8AC3E}">
        <p14:creationId xmlns:p14="http://schemas.microsoft.com/office/powerpoint/2010/main" val="911968072"/>
      </p:ext>
    </p:extLst>
  </p:cSld>
</p:sld>
</file>

<file path=ppt/slides/slide6.xml><?xml version="1.0" encoding="utf-8"?>
<p:sld xmlns:p="http://schemas.openxmlformats.org/presentationml/2006/main">
  <p:cSld>
    <p:bg>
      <p:bgPr>
        <a:solidFill xmlns:a="http://schemas.openxmlformats.org/drawingml/2006/main">
          <a:srgbClr val="F6F6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5DCCCB5-1777-4773-8D49-FF15F4EB83E0}"/>
              </a:ext>
            </a:extLst>
          </p:cNvPr>
          <p:cNvSpPr>
            <a:spLocks xmlns:a="http://schemas.openxmlformats.org/drawingml/2006/main" noGrp="1"/>
          </p:cNvSpPr>
          <p:nvPr/>
        </p:nvSpPr>
        <p:spPr>
          <a:xfrm xmlns:a="http://schemas.openxmlformats.org/drawingml/2006/main">
            <a:off x="609600" y="266700"/>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RECENT AREAS OF AI  /  HYOJIN LEE</a:t>
            </a:r>
          </a:p>
        </p:txBody>
      </p:sp>
      <p:sp>
        <p:nvSpPr>
          <p:cNvPr id="2" name="">
            <a:extLst xmlns:a="http://schemas.openxmlformats.org/drawingml/2006/main">
              <a:ext uri="{FF2B5EF4-FFF2-40B4-BE49-F238E27FC236}">
                <a16:creationId xmlns:a16="http://schemas.microsoft.com/office/drawing/2014/main" id="{F033123F-65F0-4ED4-BECB-B55B7F5DB1DB}"/>
              </a:ext>
            </a:extLst>
          </p:cNvPr>
          <p:cNvSpPr>
            <a:spLocks xmlns:a="http://schemas.openxmlformats.org/drawingml/2006/main" noGrp="1"/>
          </p:cNvSpPr>
          <p:nvPr/>
        </p:nvSpPr>
        <p:spPr>
          <a:xfrm xmlns:a="http://schemas.openxmlformats.org/drawingml/2006/main">
            <a:off x="10972800" y="266700"/>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5F7168"/>
                </a:solidFill>
                <a:latin typeface="Arial"/>
                <a:ea typeface="Arial"/>
                <a:cs typeface="Arial"/>
              </a:defRPr>
            </a:defPPr>
            <a:lvl1pPr>
              <a:defRPr sz="1050" b="1">
                <a:solidFill>
                  <a:srgbClr val="5F7168"/>
                </a:solidFill>
                <a:latin typeface="Arial"/>
                <a:ea typeface="Arial"/>
                <a:cs typeface="Arial"/>
              </a:defRPr>
            </a:lvl1pPr>
            <a:lvl2pPr>
              <a:defRPr sz="1050" b="1">
                <a:solidFill>
                  <a:srgbClr val="5F7168"/>
                </a:solidFill>
                <a:latin typeface="Arial"/>
                <a:ea typeface="Arial"/>
                <a:cs typeface="Arial"/>
              </a:defRPr>
            </a:lvl2pPr>
            <a:lvl3pPr>
              <a:defRPr sz="1050" b="1">
                <a:solidFill>
                  <a:srgbClr val="5F7168"/>
                </a:solidFill>
                <a:latin typeface="Arial"/>
                <a:ea typeface="Arial"/>
                <a:cs typeface="Arial"/>
              </a:defRPr>
            </a:lvl3pPr>
            <a:lvl4pPr>
              <a:defRPr sz="1050" b="1">
                <a:solidFill>
                  <a:srgbClr val="5F7168"/>
                </a:solidFill>
                <a:latin typeface="Arial"/>
                <a:ea typeface="Arial"/>
                <a:cs typeface="Arial"/>
              </a:defRPr>
            </a:lvl4pPr>
            <a:lvl5pPr>
              <a:defRPr sz="1050" b="1">
                <a:solidFill>
                  <a:srgbClr val="5F7168"/>
                </a:solidFill>
                <a:latin typeface="Arial"/>
                <a:ea typeface="Arial"/>
                <a:cs typeface="Arial"/>
              </a:defRPr>
            </a:lvl5pPr>
            <a:lvl6pPr>
              <a:defRPr sz="1050" b="1">
                <a:solidFill>
                  <a:srgbClr val="5F7168"/>
                </a:solidFill>
                <a:latin typeface="Arial"/>
                <a:ea typeface="Arial"/>
                <a:cs typeface="Arial"/>
              </a:defRPr>
            </a:lvl6pPr>
            <a:lvl7pPr>
              <a:defRPr sz="1050" b="1">
                <a:solidFill>
                  <a:srgbClr val="5F7168"/>
                </a:solidFill>
                <a:latin typeface="Arial"/>
                <a:ea typeface="Arial"/>
                <a:cs typeface="Arial"/>
              </a:defRPr>
            </a:lvl7pPr>
            <a:lvl8pPr>
              <a:defRPr sz="1050" b="1">
                <a:solidFill>
                  <a:srgbClr val="5F7168"/>
                </a:solidFill>
                <a:latin typeface="Arial"/>
                <a:ea typeface="Arial"/>
                <a:cs typeface="Arial"/>
              </a:defRPr>
            </a:lvl8pPr>
            <a:lvl9pPr>
              <a:defRPr sz="1050" b="1">
                <a:solidFill>
                  <a:srgbClr val="5F7168"/>
                </a:solidFill>
                <a:latin typeface="Arial"/>
                <a:ea typeface="Arial"/>
                <a:cs typeface="Arial"/>
              </a:defRPr>
            </a:lvl9pPr>
          </a:lstStyle>
          <a:p xmlns:a="http://schemas.openxmlformats.org/drawingml/2006/main">
            <a:pPr>
              <a:defRPr sz="1050" b="1">
                <a:solidFill>
                  <a:srgbClr val="5F7168"/>
                </a:solidFill>
                <a:latin typeface="Arial"/>
                <a:ea typeface="Arial"/>
                <a:cs typeface="Arial"/>
              </a:defRPr>
            </a:pPr>
            <a:r>
              <a:rPr sz="1050" b="1">
                <a:solidFill>
                  <a:srgbClr val="5F716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1E46D33-FEDB-43BD-A3E4-0CC66A393A91}"/>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62F"/>
                </a:solidFill>
                <a:latin typeface="Arial"/>
                <a:ea typeface="Arial"/>
                <a:cs typeface="Arial"/>
              </a:defRPr>
            </a:defPPr>
            <a:lvl1pPr>
              <a:defRPr sz="3300" b="1">
                <a:solidFill>
                  <a:srgbClr val="18362F"/>
                </a:solidFill>
                <a:latin typeface="Arial"/>
                <a:ea typeface="Arial"/>
                <a:cs typeface="Arial"/>
              </a:defRPr>
            </a:lvl1pPr>
            <a:lvl2pPr>
              <a:defRPr sz="3300" b="1">
                <a:solidFill>
                  <a:srgbClr val="18362F"/>
                </a:solidFill>
                <a:latin typeface="Arial"/>
                <a:ea typeface="Arial"/>
                <a:cs typeface="Arial"/>
              </a:defRPr>
            </a:lvl2pPr>
            <a:lvl3pPr>
              <a:defRPr sz="3300" b="1">
                <a:solidFill>
                  <a:srgbClr val="18362F"/>
                </a:solidFill>
                <a:latin typeface="Arial"/>
                <a:ea typeface="Arial"/>
                <a:cs typeface="Arial"/>
              </a:defRPr>
            </a:lvl3pPr>
            <a:lvl4pPr>
              <a:defRPr sz="3300" b="1">
                <a:solidFill>
                  <a:srgbClr val="18362F"/>
                </a:solidFill>
                <a:latin typeface="Arial"/>
                <a:ea typeface="Arial"/>
                <a:cs typeface="Arial"/>
              </a:defRPr>
            </a:lvl4pPr>
            <a:lvl5pPr>
              <a:defRPr sz="3300" b="1">
                <a:solidFill>
                  <a:srgbClr val="18362F"/>
                </a:solidFill>
                <a:latin typeface="Arial"/>
                <a:ea typeface="Arial"/>
                <a:cs typeface="Arial"/>
              </a:defRPr>
            </a:lvl5pPr>
            <a:lvl6pPr>
              <a:defRPr sz="3300" b="1">
                <a:solidFill>
                  <a:srgbClr val="18362F"/>
                </a:solidFill>
                <a:latin typeface="Arial"/>
                <a:ea typeface="Arial"/>
                <a:cs typeface="Arial"/>
              </a:defRPr>
            </a:lvl6pPr>
            <a:lvl7pPr>
              <a:defRPr sz="3300" b="1">
                <a:solidFill>
                  <a:srgbClr val="18362F"/>
                </a:solidFill>
                <a:latin typeface="Arial"/>
                <a:ea typeface="Arial"/>
                <a:cs typeface="Arial"/>
              </a:defRPr>
            </a:lvl7pPr>
            <a:lvl8pPr>
              <a:defRPr sz="3300" b="1">
                <a:solidFill>
                  <a:srgbClr val="18362F"/>
                </a:solidFill>
                <a:latin typeface="Arial"/>
                <a:ea typeface="Arial"/>
                <a:cs typeface="Arial"/>
              </a:defRPr>
            </a:lvl8pPr>
            <a:lvl9pPr>
              <a:defRPr sz="3300" b="1">
                <a:solidFill>
                  <a:srgbClr val="18362F"/>
                </a:solidFill>
                <a:latin typeface="Arial"/>
                <a:ea typeface="Arial"/>
                <a:cs typeface="Arial"/>
              </a:defRPr>
            </a:lvl9pPr>
          </a:lstStyle>
          <a:p xmlns:a="http://schemas.openxmlformats.org/drawingml/2006/main">
            <a:pPr>
              <a:defRPr sz="3300" b="1">
                <a:solidFill>
                  <a:srgbClr val="18362F"/>
                </a:solidFill>
                <a:latin typeface="Arial"/>
                <a:ea typeface="Arial"/>
                <a:cs typeface="Arial"/>
              </a:defRPr>
            </a:pPr>
            <a:r>
              <a:rPr sz="3300" b="1">
                <a:solidFill>
                  <a:srgbClr val="18362F"/>
                </a:solidFill>
                <a:latin typeface="Arial"/>
                <a:ea typeface="Arial"/>
                <a:cs typeface="Arial"/>
              </a:rPr>
              <a:t>Limitations and next steps</a:t>
            </a:r>
          </a:p>
        </p:txBody>
      </p:sp>
      <p:sp>
        <p:nvSpPr>
          <p:cNvPr id="4" name="">
            <a:extLst xmlns:a="http://schemas.openxmlformats.org/drawingml/2006/main">
              <a:ext uri="{FF2B5EF4-FFF2-40B4-BE49-F238E27FC236}">
                <a16:creationId xmlns:a16="http://schemas.microsoft.com/office/drawing/2014/main" id="{E3B3085A-0078-417B-B310-A1FDF615BA8B}"/>
              </a:ext>
            </a:extLst>
          </p:cNvPr>
          <p:cNvSpPr>
            <a:spLocks xmlns:a="http://schemas.openxmlformats.org/drawingml/2006/main" noGrp="1"/>
          </p:cNvSpPr>
          <p:nvPr/>
        </p:nvSpPr>
        <p:spPr>
          <a:xfrm xmlns:a="http://schemas.openxmlformats.org/drawingml/2006/main">
            <a:off x="609600" y="6343650"/>
            <a:ext cx="10972800" cy="9525"/>
          </a:xfrm>
          <a:prstGeom xmlns:a="http://schemas.openxmlformats.org/drawingml/2006/main" prst="rect">
            <a:avLst/>
          </a:prstGeom>
          <a:solidFill xmlns:a="http://schemas.openxmlformats.org/drawingml/2006/main">
            <a:srgbClr val="D6DDD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CD5317-CCE8-4BD7-9C4D-283B314BBF56}"/>
              </a:ext>
            </a:extLst>
          </p:cNvPr>
          <p:cNvSpPr>
            <a:spLocks xmlns:a="http://schemas.openxmlformats.org/drawingml/2006/main" noGrp="1"/>
          </p:cNvSpPr>
          <p:nvPr/>
        </p:nvSpPr>
        <p:spPr>
          <a:xfrm xmlns:a="http://schemas.openxmlformats.org/drawingml/2006/main">
            <a:off x="609600" y="646747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F7168"/>
                </a:solidFill>
                <a:latin typeface="Arial"/>
                <a:ea typeface="Arial"/>
                <a:cs typeface="Arial"/>
              </a:defRPr>
            </a:defPPr>
            <a:lvl1pPr>
              <a:defRPr sz="1050" b="0">
                <a:solidFill>
                  <a:srgbClr val="5F7168"/>
                </a:solidFill>
                <a:latin typeface="Arial"/>
                <a:ea typeface="Arial"/>
                <a:cs typeface="Arial"/>
              </a:defRPr>
            </a:lvl1pPr>
            <a:lvl2pPr>
              <a:defRPr sz="1050" b="0">
                <a:solidFill>
                  <a:srgbClr val="5F7168"/>
                </a:solidFill>
                <a:latin typeface="Arial"/>
                <a:ea typeface="Arial"/>
                <a:cs typeface="Arial"/>
              </a:defRPr>
            </a:lvl2pPr>
            <a:lvl3pPr>
              <a:defRPr sz="1050" b="0">
                <a:solidFill>
                  <a:srgbClr val="5F7168"/>
                </a:solidFill>
                <a:latin typeface="Arial"/>
                <a:ea typeface="Arial"/>
                <a:cs typeface="Arial"/>
              </a:defRPr>
            </a:lvl3pPr>
            <a:lvl4pPr>
              <a:defRPr sz="1050" b="0">
                <a:solidFill>
                  <a:srgbClr val="5F7168"/>
                </a:solidFill>
                <a:latin typeface="Arial"/>
                <a:ea typeface="Arial"/>
                <a:cs typeface="Arial"/>
              </a:defRPr>
            </a:lvl4pPr>
            <a:lvl5pPr>
              <a:defRPr sz="1050" b="0">
                <a:solidFill>
                  <a:srgbClr val="5F7168"/>
                </a:solidFill>
                <a:latin typeface="Arial"/>
                <a:ea typeface="Arial"/>
                <a:cs typeface="Arial"/>
              </a:defRPr>
            </a:lvl5pPr>
            <a:lvl6pPr>
              <a:defRPr sz="1050" b="0">
                <a:solidFill>
                  <a:srgbClr val="5F7168"/>
                </a:solidFill>
                <a:latin typeface="Arial"/>
                <a:ea typeface="Arial"/>
                <a:cs typeface="Arial"/>
              </a:defRPr>
            </a:lvl6pPr>
            <a:lvl7pPr>
              <a:defRPr sz="1050" b="0">
                <a:solidFill>
                  <a:srgbClr val="5F7168"/>
                </a:solidFill>
                <a:latin typeface="Arial"/>
                <a:ea typeface="Arial"/>
                <a:cs typeface="Arial"/>
              </a:defRPr>
            </a:lvl7pPr>
            <a:lvl8pPr>
              <a:defRPr sz="1050" b="0">
                <a:solidFill>
                  <a:srgbClr val="5F7168"/>
                </a:solidFill>
                <a:latin typeface="Arial"/>
                <a:ea typeface="Arial"/>
                <a:cs typeface="Arial"/>
              </a:defRPr>
            </a:lvl8pPr>
            <a:lvl9pPr>
              <a:defRPr sz="1050" b="0">
                <a:solidFill>
                  <a:srgbClr val="5F7168"/>
                </a:solidFill>
                <a:latin typeface="Arial"/>
                <a:ea typeface="Arial"/>
                <a:cs typeface="Arial"/>
              </a:defRPr>
            </a:lvl9pPr>
          </a:lstStyle>
          <a:p xmlns:a="http://schemas.openxmlformats.org/drawingml/2006/main">
            <a:pPr>
              <a:defRPr sz="1050" b="0">
                <a:solidFill>
                  <a:srgbClr val="5F7168"/>
                </a:solidFill>
                <a:latin typeface="Arial"/>
                <a:ea typeface="Arial"/>
                <a:cs typeface="Arial"/>
              </a:defRPr>
            </a:pPr>
            <a:r>
              <a:rPr sz="1050" b="0">
                <a:solidFill>
                  <a:srgbClr val="5F7168"/>
                </a:solidFill>
                <a:latin typeface="Arial"/>
                <a:ea typeface="Arial"/>
                <a:cs typeface="Arial"/>
              </a:rPr>
              <a:t>Travel Constraint Extraction · 2026</a:t>
            </a:r>
          </a:p>
        </p:txBody>
      </p:sp>
      <p:sp>
        <p:nvSpPr>
          <p:cNvPr id="6" name="">
            <a:extLst xmlns:a="http://schemas.openxmlformats.org/drawingml/2006/main">
              <a:ext uri="{FF2B5EF4-FFF2-40B4-BE49-F238E27FC236}">
                <a16:creationId xmlns:a16="http://schemas.microsoft.com/office/drawing/2014/main" id="{C77407E1-4498-4C25-AA83-EE9F4C0E5AD1}"/>
              </a:ext>
            </a:extLst>
          </p:cNvPr>
          <p:cNvSpPr>
            <a:spLocks xmlns:a="http://schemas.openxmlformats.org/drawingml/2006/main" noGrp="1"/>
          </p:cNvSpPr>
          <p:nvPr/>
        </p:nvSpPr>
        <p:spPr>
          <a:xfrm xmlns:a="http://schemas.openxmlformats.org/drawingml/2006/main">
            <a:off x="609600" y="1619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45D51"/>
                </a:solidFill>
                <a:latin typeface="Arial"/>
                <a:ea typeface="Arial"/>
                <a:cs typeface="Arial"/>
              </a:defRPr>
            </a:defPPr>
            <a:lvl1pPr>
              <a:defRPr sz="3300" b="1">
                <a:solidFill>
                  <a:srgbClr val="245D51"/>
                </a:solidFill>
                <a:latin typeface="Arial"/>
                <a:ea typeface="Arial"/>
                <a:cs typeface="Arial"/>
              </a:defRPr>
            </a:lvl1pPr>
            <a:lvl2pPr>
              <a:defRPr sz="3300" b="1">
                <a:solidFill>
                  <a:srgbClr val="245D51"/>
                </a:solidFill>
                <a:latin typeface="Arial"/>
                <a:ea typeface="Arial"/>
                <a:cs typeface="Arial"/>
              </a:defRPr>
            </a:lvl2pPr>
            <a:lvl3pPr>
              <a:defRPr sz="3300" b="1">
                <a:solidFill>
                  <a:srgbClr val="245D51"/>
                </a:solidFill>
                <a:latin typeface="Arial"/>
                <a:ea typeface="Arial"/>
                <a:cs typeface="Arial"/>
              </a:defRPr>
            </a:lvl3pPr>
            <a:lvl4pPr>
              <a:defRPr sz="3300" b="1">
                <a:solidFill>
                  <a:srgbClr val="245D51"/>
                </a:solidFill>
                <a:latin typeface="Arial"/>
                <a:ea typeface="Arial"/>
                <a:cs typeface="Arial"/>
              </a:defRPr>
            </a:lvl4pPr>
            <a:lvl5pPr>
              <a:defRPr sz="3300" b="1">
                <a:solidFill>
                  <a:srgbClr val="245D51"/>
                </a:solidFill>
                <a:latin typeface="Arial"/>
                <a:ea typeface="Arial"/>
                <a:cs typeface="Arial"/>
              </a:defRPr>
            </a:lvl5pPr>
            <a:lvl6pPr>
              <a:defRPr sz="3300" b="1">
                <a:solidFill>
                  <a:srgbClr val="245D51"/>
                </a:solidFill>
                <a:latin typeface="Arial"/>
                <a:ea typeface="Arial"/>
                <a:cs typeface="Arial"/>
              </a:defRPr>
            </a:lvl6pPr>
            <a:lvl7pPr>
              <a:defRPr sz="3300" b="1">
                <a:solidFill>
                  <a:srgbClr val="245D51"/>
                </a:solidFill>
                <a:latin typeface="Arial"/>
                <a:ea typeface="Arial"/>
                <a:cs typeface="Arial"/>
              </a:defRPr>
            </a:lvl7pPr>
            <a:lvl8pPr>
              <a:defRPr sz="3300" b="1">
                <a:solidFill>
                  <a:srgbClr val="245D51"/>
                </a:solidFill>
                <a:latin typeface="Arial"/>
                <a:ea typeface="Arial"/>
                <a:cs typeface="Arial"/>
              </a:defRPr>
            </a:lvl8pPr>
            <a:lvl9pPr>
              <a:defRPr sz="3300" b="1">
                <a:solidFill>
                  <a:srgbClr val="245D51"/>
                </a:solidFill>
                <a:latin typeface="Arial"/>
                <a:ea typeface="Arial"/>
                <a:cs typeface="Arial"/>
              </a:defRPr>
            </a:lvl9pPr>
          </a:lstStyle>
          <a:p xmlns:a="http://schemas.openxmlformats.org/drawingml/2006/main">
            <a:pPr>
              <a:defRPr sz="3300" b="1">
                <a:solidFill>
                  <a:srgbClr val="245D51"/>
                </a:solidFill>
                <a:latin typeface="Arial"/>
                <a:ea typeface="Arial"/>
                <a:cs typeface="Arial"/>
              </a:defRPr>
            </a:pPr>
            <a:r>
              <a:rPr sz="3300" b="1">
                <a:solidFill>
                  <a:srgbClr val="245D51"/>
                </a:solidFill>
                <a:latin typeface="Arial"/>
                <a:ea typeface="Arial"/>
                <a:cs typeface="Arial"/>
              </a:rPr>
              <a:t>0.795 F1 after LoRA fine-tuning</a:t>
            </a:r>
          </a:p>
        </p:txBody>
      </p:sp>
      <p:sp>
        <p:nvSpPr>
          <p:cNvPr id="7" name="">
            <a:extLst xmlns:a="http://schemas.openxmlformats.org/drawingml/2006/main">
              <a:ext uri="{FF2B5EF4-FFF2-40B4-BE49-F238E27FC236}">
                <a16:creationId xmlns:a16="http://schemas.microsoft.com/office/drawing/2014/main" id="{FD1D1C23-B04B-40A8-BF2F-C890890324D0}"/>
              </a:ext>
            </a:extLst>
          </p:cNvPr>
          <p:cNvSpPr>
            <a:spLocks xmlns:a="http://schemas.openxmlformats.org/drawingml/2006/main" noGrp="1"/>
          </p:cNvSpPr>
          <p:nvPr/>
        </p:nvSpPr>
        <p:spPr>
          <a:xfrm xmlns:a="http://schemas.openxmlformats.org/drawingml/2006/main">
            <a:off x="609600" y="2371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62F"/>
                </a:solidFill>
                <a:latin typeface="Arial"/>
                <a:ea typeface="Arial"/>
                <a:cs typeface="Arial"/>
              </a:defRPr>
            </a:defPPr>
            <a:lvl1pPr>
              <a:defRPr sz="2100" b="0">
                <a:solidFill>
                  <a:srgbClr val="18362F"/>
                </a:solidFill>
                <a:latin typeface="Arial"/>
                <a:ea typeface="Arial"/>
                <a:cs typeface="Arial"/>
              </a:defRPr>
            </a:lvl1pPr>
            <a:lvl2pPr>
              <a:defRPr sz="2100" b="0">
                <a:solidFill>
                  <a:srgbClr val="18362F"/>
                </a:solidFill>
                <a:latin typeface="Arial"/>
                <a:ea typeface="Arial"/>
                <a:cs typeface="Arial"/>
              </a:defRPr>
            </a:lvl2pPr>
            <a:lvl3pPr>
              <a:defRPr sz="2100" b="0">
                <a:solidFill>
                  <a:srgbClr val="18362F"/>
                </a:solidFill>
                <a:latin typeface="Arial"/>
                <a:ea typeface="Arial"/>
                <a:cs typeface="Arial"/>
              </a:defRPr>
            </a:lvl3pPr>
            <a:lvl4pPr>
              <a:defRPr sz="2100" b="0">
                <a:solidFill>
                  <a:srgbClr val="18362F"/>
                </a:solidFill>
                <a:latin typeface="Arial"/>
                <a:ea typeface="Arial"/>
                <a:cs typeface="Arial"/>
              </a:defRPr>
            </a:lvl4pPr>
            <a:lvl5pPr>
              <a:defRPr sz="2100" b="0">
                <a:solidFill>
                  <a:srgbClr val="18362F"/>
                </a:solidFill>
                <a:latin typeface="Arial"/>
                <a:ea typeface="Arial"/>
                <a:cs typeface="Arial"/>
              </a:defRPr>
            </a:lvl5pPr>
            <a:lvl6pPr>
              <a:defRPr sz="2100" b="0">
                <a:solidFill>
                  <a:srgbClr val="18362F"/>
                </a:solidFill>
                <a:latin typeface="Arial"/>
                <a:ea typeface="Arial"/>
                <a:cs typeface="Arial"/>
              </a:defRPr>
            </a:lvl6pPr>
            <a:lvl7pPr>
              <a:defRPr sz="2100" b="0">
                <a:solidFill>
                  <a:srgbClr val="18362F"/>
                </a:solidFill>
                <a:latin typeface="Arial"/>
                <a:ea typeface="Arial"/>
                <a:cs typeface="Arial"/>
              </a:defRPr>
            </a:lvl7pPr>
            <a:lvl8pPr>
              <a:defRPr sz="2100" b="0">
                <a:solidFill>
                  <a:srgbClr val="18362F"/>
                </a:solidFill>
                <a:latin typeface="Arial"/>
                <a:ea typeface="Arial"/>
                <a:cs typeface="Arial"/>
              </a:defRPr>
            </a:lvl8pPr>
            <a:lvl9pPr>
              <a:defRPr sz="2100" b="0">
                <a:solidFill>
                  <a:srgbClr val="18362F"/>
                </a:solidFill>
                <a:latin typeface="Arial"/>
                <a:ea typeface="Arial"/>
                <a:cs typeface="Arial"/>
              </a:defRPr>
            </a:lvl9pPr>
          </a:lstStyle>
          <a:p xmlns:a="http://schemas.openxmlformats.org/drawingml/2006/main">
            <a:pPr>
              <a:defRPr sz="2100" b="0">
                <a:solidFill>
                  <a:srgbClr val="18362F"/>
                </a:solidFill>
                <a:latin typeface="Arial"/>
                <a:ea typeface="Arial"/>
                <a:cs typeface="Arial"/>
              </a:defRPr>
            </a:pPr>
            <a:r>
              <a:rPr sz="2100" b="0">
                <a:solidFill>
                  <a:srgbClr val="18362F"/>
                </a:solidFill>
                <a:latin typeface="Arial"/>
                <a:ea typeface="Arial"/>
                <a:cs typeface="Arial"/>
              </a:rPr>
              <a:t>Measured on a controlled synthetic test set</a:t>
            </a:r>
          </a:p>
        </p:txBody>
      </p:sp>
      <p:sp>
        <p:nvSpPr>
          <p:cNvPr id="8" name="">
            <a:extLst xmlns:a="http://schemas.openxmlformats.org/drawingml/2006/main">
              <a:ext uri="{FF2B5EF4-FFF2-40B4-BE49-F238E27FC236}">
                <a16:creationId xmlns:a16="http://schemas.microsoft.com/office/drawing/2014/main" id="{1C5868A5-879F-4C50-BB9B-085A5CEB322F}"/>
              </a:ext>
            </a:extLst>
          </p:cNvPr>
          <p:cNvSpPr>
            <a:spLocks xmlns:a="http://schemas.openxmlformats.org/drawingml/2006/main" noGrp="1"/>
          </p:cNvSpPr>
          <p:nvPr/>
        </p:nvSpPr>
        <p:spPr>
          <a:xfrm xmlns:a="http://schemas.openxmlformats.org/drawingml/2006/main">
            <a:off x="609600" y="3143250"/>
            <a:ext cx="3086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62F"/>
                </a:solidFill>
                <a:latin typeface="Arial"/>
                <a:ea typeface="Arial"/>
                <a:cs typeface="Arial"/>
              </a:defRPr>
            </a:defPPr>
            <a:lvl1pPr>
              <a:defRPr sz="1800" b="1">
                <a:solidFill>
                  <a:srgbClr val="18362F"/>
                </a:solidFill>
                <a:latin typeface="Arial"/>
                <a:ea typeface="Arial"/>
                <a:cs typeface="Arial"/>
              </a:defRPr>
            </a:lvl1pPr>
            <a:lvl2pPr>
              <a:defRPr sz="1800" b="1">
                <a:solidFill>
                  <a:srgbClr val="18362F"/>
                </a:solidFill>
                <a:latin typeface="Arial"/>
                <a:ea typeface="Arial"/>
                <a:cs typeface="Arial"/>
              </a:defRPr>
            </a:lvl2pPr>
            <a:lvl3pPr>
              <a:defRPr sz="1800" b="1">
                <a:solidFill>
                  <a:srgbClr val="18362F"/>
                </a:solidFill>
                <a:latin typeface="Arial"/>
                <a:ea typeface="Arial"/>
                <a:cs typeface="Arial"/>
              </a:defRPr>
            </a:lvl3pPr>
            <a:lvl4pPr>
              <a:defRPr sz="1800" b="1">
                <a:solidFill>
                  <a:srgbClr val="18362F"/>
                </a:solidFill>
                <a:latin typeface="Arial"/>
                <a:ea typeface="Arial"/>
                <a:cs typeface="Arial"/>
              </a:defRPr>
            </a:lvl4pPr>
            <a:lvl5pPr>
              <a:defRPr sz="1800" b="1">
                <a:solidFill>
                  <a:srgbClr val="18362F"/>
                </a:solidFill>
                <a:latin typeface="Arial"/>
                <a:ea typeface="Arial"/>
                <a:cs typeface="Arial"/>
              </a:defRPr>
            </a:lvl5pPr>
            <a:lvl6pPr>
              <a:defRPr sz="1800" b="1">
                <a:solidFill>
                  <a:srgbClr val="18362F"/>
                </a:solidFill>
                <a:latin typeface="Arial"/>
                <a:ea typeface="Arial"/>
                <a:cs typeface="Arial"/>
              </a:defRPr>
            </a:lvl6pPr>
            <a:lvl7pPr>
              <a:defRPr sz="1800" b="1">
                <a:solidFill>
                  <a:srgbClr val="18362F"/>
                </a:solidFill>
                <a:latin typeface="Arial"/>
                <a:ea typeface="Arial"/>
                <a:cs typeface="Arial"/>
              </a:defRPr>
            </a:lvl7pPr>
            <a:lvl8pPr>
              <a:defRPr sz="1800" b="1">
                <a:solidFill>
                  <a:srgbClr val="18362F"/>
                </a:solidFill>
                <a:latin typeface="Arial"/>
                <a:ea typeface="Arial"/>
                <a:cs typeface="Arial"/>
              </a:defRPr>
            </a:lvl8pPr>
            <a:lvl9pPr>
              <a:defRPr sz="1800" b="1">
                <a:solidFill>
                  <a:srgbClr val="18362F"/>
                </a:solidFill>
                <a:latin typeface="Arial"/>
                <a:ea typeface="Arial"/>
                <a:cs typeface="Arial"/>
              </a:defRPr>
            </a:lvl9pPr>
          </a:lstStyle>
          <a:p xmlns:a="http://schemas.openxmlformats.org/drawingml/2006/main">
            <a:pPr>
              <a:defRPr sz="1800" b="1">
                <a:solidFill>
                  <a:srgbClr val="18362F"/>
                </a:solidFill>
                <a:latin typeface="Arial"/>
                <a:ea typeface="Arial"/>
                <a:cs typeface="Arial"/>
              </a:defRPr>
            </a:pPr>
            <a:r>
              <a:rPr sz="1800" b="1">
                <a:solidFill>
                  <a:srgbClr val="18362F"/>
                </a:solidFill>
                <a:latin typeface="Arial"/>
                <a:ea typeface="Arial"/>
                <a:cs typeface="Arial"/>
              </a:rPr>
              <a:t>Remaining model errors</a:t>
            </a:r>
          </a:p>
        </p:txBody>
      </p:sp>
      <p:sp>
        <p:nvSpPr>
          <p:cNvPr id="9" name="">
            <a:extLst xmlns:a="http://schemas.openxmlformats.org/drawingml/2006/main">
              <a:ext uri="{FF2B5EF4-FFF2-40B4-BE49-F238E27FC236}">
                <a16:creationId xmlns:a16="http://schemas.microsoft.com/office/drawing/2014/main" id="{A9A5A373-4D5C-4EDC-91F8-C091FBBC83CE}"/>
              </a:ext>
            </a:extLst>
          </p:cNvPr>
          <p:cNvSpPr>
            <a:spLocks xmlns:a="http://schemas.openxmlformats.org/drawingml/2006/main" noGrp="1"/>
          </p:cNvSpPr>
          <p:nvPr/>
        </p:nvSpPr>
        <p:spPr>
          <a:xfrm xmlns:a="http://schemas.openxmlformats.org/drawingml/2006/main">
            <a:off x="3886200" y="3143250"/>
            <a:ext cx="7696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2F"/>
                </a:solidFill>
                <a:latin typeface="Arial"/>
                <a:ea typeface="Arial"/>
                <a:cs typeface="Arial"/>
              </a:defRPr>
            </a:defPPr>
            <a:lvl1pPr>
              <a:defRPr sz="1875" b="0">
                <a:solidFill>
                  <a:srgbClr val="18362F"/>
                </a:solidFill>
                <a:latin typeface="Arial"/>
                <a:ea typeface="Arial"/>
                <a:cs typeface="Arial"/>
              </a:defRPr>
            </a:lvl1pPr>
            <a:lvl2pPr>
              <a:defRPr sz="1875" b="0">
                <a:solidFill>
                  <a:srgbClr val="18362F"/>
                </a:solidFill>
                <a:latin typeface="Arial"/>
                <a:ea typeface="Arial"/>
                <a:cs typeface="Arial"/>
              </a:defRPr>
            </a:lvl2pPr>
            <a:lvl3pPr>
              <a:defRPr sz="1875" b="0">
                <a:solidFill>
                  <a:srgbClr val="18362F"/>
                </a:solidFill>
                <a:latin typeface="Arial"/>
                <a:ea typeface="Arial"/>
                <a:cs typeface="Arial"/>
              </a:defRPr>
            </a:lvl3pPr>
            <a:lvl4pPr>
              <a:defRPr sz="1875" b="0">
                <a:solidFill>
                  <a:srgbClr val="18362F"/>
                </a:solidFill>
                <a:latin typeface="Arial"/>
                <a:ea typeface="Arial"/>
                <a:cs typeface="Arial"/>
              </a:defRPr>
            </a:lvl4pPr>
            <a:lvl5pPr>
              <a:defRPr sz="1875" b="0">
                <a:solidFill>
                  <a:srgbClr val="18362F"/>
                </a:solidFill>
                <a:latin typeface="Arial"/>
                <a:ea typeface="Arial"/>
                <a:cs typeface="Arial"/>
              </a:defRPr>
            </a:lvl5pPr>
            <a:lvl6pPr>
              <a:defRPr sz="1875" b="0">
                <a:solidFill>
                  <a:srgbClr val="18362F"/>
                </a:solidFill>
                <a:latin typeface="Arial"/>
                <a:ea typeface="Arial"/>
                <a:cs typeface="Arial"/>
              </a:defRPr>
            </a:lvl6pPr>
            <a:lvl7pPr>
              <a:defRPr sz="1875" b="0">
                <a:solidFill>
                  <a:srgbClr val="18362F"/>
                </a:solidFill>
                <a:latin typeface="Arial"/>
                <a:ea typeface="Arial"/>
                <a:cs typeface="Arial"/>
              </a:defRPr>
            </a:lvl7pPr>
            <a:lvl8pPr>
              <a:defRPr sz="1875" b="0">
                <a:solidFill>
                  <a:srgbClr val="18362F"/>
                </a:solidFill>
                <a:latin typeface="Arial"/>
                <a:ea typeface="Arial"/>
                <a:cs typeface="Arial"/>
              </a:defRPr>
            </a:lvl8pPr>
            <a:lvl9pPr>
              <a:defRPr sz="1875" b="0">
                <a:solidFill>
                  <a:srgbClr val="18362F"/>
                </a:solidFill>
                <a:latin typeface="Arial"/>
                <a:ea typeface="Arial"/>
                <a:cs typeface="Arial"/>
              </a:defRPr>
            </a:lvl9pPr>
          </a:lstStyle>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Walking scope, time operators, and missed conditions</a:t>
            </a:r>
          </a:p>
        </p:txBody>
      </p:sp>
      <p:sp>
        <p:nvSpPr>
          <p:cNvPr id="10" name="">
            <a:extLst xmlns:a="http://schemas.openxmlformats.org/drawingml/2006/main">
              <a:ext uri="{FF2B5EF4-FFF2-40B4-BE49-F238E27FC236}">
                <a16:creationId xmlns:a16="http://schemas.microsoft.com/office/drawing/2014/main" id="{C682818D-E779-4802-A05D-225E1CF31DB5}"/>
              </a:ext>
            </a:extLst>
          </p:cNvPr>
          <p:cNvSpPr>
            <a:spLocks xmlns:a="http://schemas.openxmlformats.org/drawingml/2006/main" noGrp="1"/>
          </p:cNvSpPr>
          <p:nvPr/>
        </p:nvSpPr>
        <p:spPr>
          <a:xfrm xmlns:a="http://schemas.openxmlformats.org/drawingml/2006/main">
            <a:off x="609600" y="3924300"/>
            <a:ext cx="3086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62F"/>
                </a:solidFill>
                <a:latin typeface="Arial"/>
                <a:ea typeface="Arial"/>
                <a:cs typeface="Arial"/>
              </a:defRPr>
            </a:defPPr>
            <a:lvl1pPr>
              <a:defRPr sz="1800" b="1">
                <a:solidFill>
                  <a:srgbClr val="18362F"/>
                </a:solidFill>
                <a:latin typeface="Arial"/>
                <a:ea typeface="Arial"/>
                <a:cs typeface="Arial"/>
              </a:defRPr>
            </a:lvl1pPr>
            <a:lvl2pPr>
              <a:defRPr sz="1800" b="1">
                <a:solidFill>
                  <a:srgbClr val="18362F"/>
                </a:solidFill>
                <a:latin typeface="Arial"/>
                <a:ea typeface="Arial"/>
                <a:cs typeface="Arial"/>
              </a:defRPr>
            </a:lvl2pPr>
            <a:lvl3pPr>
              <a:defRPr sz="1800" b="1">
                <a:solidFill>
                  <a:srgbClr val="18362F"/>
                </a:solidFill>
                <a:latin typeface="Arial"/>
                <a:ea typeface="Arial"/>
                <a:cs typeface="Arial"/>
              </a:defRPr>
            </a:lvl3pPr>
            <a:lvl4pPr>
              <a:defRPr sz="1800" b="1">
                <a:solidFill>
                  <a:srgbClr val="18362F"/>
                </a:solidFill>
                <a:latin typeface="Arial"/>
                <a:ea typeface="Arial"/>
                <a:cs typeface="Arial"/>
              </a:defRPr>
            </a:lvl4pPr>
            <a:lvl5pPr>
              <a:defRPr sz="1800" b="1">
                <a:solidFill>
                  <a:srgbClr val="18362F"/>
                </a:solidFill>
                <a:latin typeface="Arial"/>
                <a:ea typeface="Arial"/>
                <a:cs typeface="Arial"/>
              </a:defRPr>
            </a:lvl5pPr>
            <a:lvl6pPr>
              <a:defRPr sz="1800" b="1">
                <a:solidFill>
                  <a:srgbClr val="18362F"/>
                </a:solidFill>
                <a:latin typeface="Arial"/>
                <a:ea typeface="Arial"/>
                <a:cs typeface="Arial"/>
              </a:defRPr>
            </a:lvl6pPr>
            <a:lvl7pPr>
              <a:defRPr sz="1800" b="1">
                <a:solidFill>
                  <a:srgbClr val="18362F"/>
                </a:solidFill>
                <a:latin typeface="Arial"/>
                <a:ea typeface="Arial"/>
                <a:cs typeface="Arial"/>
              </a:defRPr>
            </a:lvl7pPr>
            <a:lvl8pPr>
              <a:defRPr sz="1800" b="1">
                <a:solidFill>
                  <a:srgbClr val="18362F"/>
                </a:solidFill>
                <a:latin typeface="Arial"/>
                <a:ea typeface="Arial"/>
                <a:cs typeface="Arial"/>
              </a:defRPr>
            </a:lvl8pPr>
            <a:lvl9pPr>
              <a:defRPr sz="1800" b="1">
                <a:solidFill>
                  <a:srgbClr val="18362F"/>
                </a:solidFill>
                <a:latin typeface="Arial"/>
                <a:ea typeface="Arial"/>
                <a:cs typeface="Arial"/>
              </a:defRPr>
            </a:lvl9pPr>
          </a:lstStyle>
          <a:p xmlns:a="http://schemas.openxmlformats.org/drawingml/2006/main">
            <a:pPr>
              <a:defRPr sz="1800" b="1">
                <a:solidFill>
                  <a:srgbClr val="18362F"/>
                </a:solidFill>
                <a:latin typeface="Arial"/>
                <a:ea typeface="Arial"/>
                <a:cs typeface="Arial"/>
              </a:defRPr>
            </a:pPr>
            <a:r>
              <a:rPr sz="1800" b="1">
                <a:solidFill>
                  <a:srgbClr val="18362F"/>
                </a:solidFill>
                <a:latin typeface="Arial"/>
                <a:ea typeface="Arial"/>
                <a:cs typeface="Arial"/>
              </a:rPr>
              <a:t>Next evaluation</a:t>
            </a:r>
          </a:p>
        </p:txBody>
      </p:sp>
      <p:sp>
        <p:nvSpPr>
          <p:cNvPr id="11" name="">
            <a:extLst xmlns:a="http://schemas.openxmlformats.org/drawingml/2006/main">
              <a:ext uri="{FF2B5EF4-FFF2-40B4-BE49-F238E27FC236}">
                <a16:creationId xmlns:a16="http://schemas.microsoft.com/office/drawing/2014/main" id="{94A7C30A-2E7E-4442-A203-BD7EDB1AED52}"/>
              </a:ext>
            </a:extLst>
          </p:cNvPr>
          <p:cNvSpPr>
            <a:spLocks xmlns:a="http://schemas.openxmlformats.org/drawingml/2006/main" noGrp="1"/>
          </p:cNvSpPr>
          <p:nvPr/>
        </p:nvSpPr>
        <p:spPr>
          <a:xfrm xmlns:a="http://schemas.openxmlformats.org/drawingml/2006/main">
            <a:off x="3886200" y="3924300"/>
            <a:ext cx="7696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2F"/>
                </a:solidFill>
                <a:latin typeface="Arial"/>
                <a:ea typeface="Arial"/>
                <a:cs typeface="Arial"/>
              </a:defRPr>
            </a:defPPr>
            <a:lvl1pPr>
              <a:defRPr sz="1875" b="0">
                <a:solidFill>
                  <a:srgbClr val="18362F"/>
                </a:solidFill>
                <a:latin typeface="Arial"/>
                <a:ea typeface="Arial"/>
                <a:cs typeface="Arial"/>
              </a:defRPr>
            </a:lvl1pPr>
            <a:lvl2pPr>
              <a:defRPr sz="1875" b="0">
                <a:solidFill>
                  <a:srgbClr val="18362F"/>
                </a:solidFill>
                <a:latin typeface="Arial"/>
                <a:ea typeface="Arial"/>
                <a:cs typeface="Arial"/>
              </a:defRPr>
            </a:lvl2pPr>
            <a:lvl3pPr>
              <a:defRPr sz="1875" b="0">
                <a:solidFill>
                  <a:srgbClr val="18362F"/>
                </a:solidFill>
                <a:latin typeface="Arial"/>
                <a:ea typeface="Arial"/>
                <a:cs typeface="Arial"/>
              </a:defRPr>
            </a:lvl3pPr>
            <a:lvl4pPr>
              <a:defRPr sz="1875" b="0">
                <a:solidFill>
                  <a:srgbClr val="18362F"/>
                </a:solidFill>
                <a:latin typeface="Arial"/>
                <a:ea typeface="Arial"/>
                <a:cs typeface="Arial"/>
              </a:defRPr>
            </a:lvl4pPr>
            <a:lvl5pPr>
              <a:defRPr sz="1875" b="0">
                <a:solidFill>
                  <a:srgbClr val="18362F"/>
                </a:solidFill>
                <a:latin typeface="Arial"/>
                <a:ea typeface="Arial"/>
                <a:cs typeface="Arial"/>
              </a:defRPr>
            </a:lvl5pPr>
            <a:lvl6pPr>
              <a:defRPr sz="1875" b="0">
                <a:solidFill>
                  <a:srgbClr val="18362F"/>
                </a:solidFill>
                <a:latin typeface="Arial"/>
                <a:ea typeface="Arial"/>
                <a:cs typeface="Arial"/>
              </a:defRPr>
            </a:lvl6pPr>
            <a:lvl7pPr>
              <a:defRPr sz="1875" b="0">
                <a:solidFill>
                  <a:srgbClr val="18362F"/>
                </a:solidFill>
                <a:latin typeface="Arial"/>
                <a:ea typeface="Arial"/>
                <a:cs typeface="Arial"/>
              </a:defRPr>
            </a:lvl7pPr>
            <a:lvl8pPr>
              <a:defRPr sz="1875" b="0">
                <a:solidFill>
                  <a:srgbClr val="18362F"/>
                </a:solidFill>
                <a:latin typeface="Arial"/>
                <a:ea typeface="Arial"/>
                <a:cs typeface="Arial"/>
              </a:defRPr>
            </a:lvl8pPr>
            <a:lvl9pPr>
              <a:defRPr sz="1875" b="0">
                <a:solidFill>
                  <a:srgbClr val="18362F"/>
                </a:solidFill>
                <a:latin typeface="Arial"/>
                <a:ea typeface="Arial"/>
                <a:cs typeface="Arial"/>
              </a:defRPr>
            </a:lvl9pPr>
          </a:lstStyle>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Human-annotated requests across more scenarios</a:t>
            </a:r>
          </a:p>
        </p:txBody>
      </p:sp>
      <p:sp>
        <p:nvSpPr>
          <p:cNvPr id="12" name="">
            <a:extLst xmlns:a="http://schemas.openxmlformats.org/drawingml/2006/main">
              <a:ext uri="{FF2B5EF4-FFF2-40B4-BE49-F238E27FC236}">
                <a16:creationId xmlns:a16="http://schemas.microsoft.com/office/drawing/2014/main" id="{C8BDAB0E-A55B-4999-8421-E78A4B2F5B70}"/>
              </a:ext>
            </a:extLst>
          </p:cNvPr>
          <p:cNvSpPr>
            <a:spLocks xmlns:a="http://schemas.openxmlformats.org/drawingml/2006/main" noGrp="1"/>
          </p:cNvSpPr>
          <p:nvPr/>
        </p:nvSpPr>
        <p:spPr>
          <a:xfrm xmlns:a="http://schemas.openxmlformats.org/drawingml/2006/main">
            <a:off x="609600" y="4705350"/>
            <a:ext cx="3086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62F"/>
                </a:solidFill>
                <a:latin typeface="Arial"/>
                <a:ea typeface="Arial"/>
                <a:cs typeface="Arial"/>
              </a:defRPr>
            </a:defPPr>
            <a:lvl1pPr>
              <a:defRPr sz="1800" b="1">
                <a:solidFill>
                  <a:srgbClr val="18362F"/>
                </a:solidFill>
                <a:latin typeface="Arial"/>
                <a:ea typeface="Arial"/>
                <a:cs typeface="Arial"/>
              </a:defRPr>
            </a:lvl1pPr>
            <a:lvl2pPr>
              <a:defRPr sz="1800" b="1">
                <a:solidFill>
                  <a:srgbClr val="18362F"/>
                </a:solidFill>
                <a:latin typeface="Arial"/>
                <a:ea typeface="Arial"/>
                <a:cs typeface="Arial"/>
              </a:defRPr>
            </a:lvl2pPr>
            <a:lvl3pPr>
              <a:defRPr sz="1800" b="1">
                <a:solidFill>
                  <a:srgbClr val="18362F"/>
                </a:solidFill>
                <a:latin typeface="Arial"/>
                <a:ea typeface="Arial"/>
                <a:cs typeface="Arial"/>
              </a:defRPr>
            </a:lvl3pPr>
            <a:lvl4pPr>
              <a:defRPr sz="1800" b="1">
                <a:solidFill>
                  <a:srgbClr val="18362F"/>
                </a:solidFill>
                <a:latin typeface="Arial"/>
                <a:ea typeface="Arial"/>
                <a:cs typeface="Arial"/>
              </a:defRPr>
            </a:lvl4pPr>
            <a:lvl5pPr>
              <a:defRPr sz="1800" b="1">
                <a:solidFill>
                  <a:srgbClr val="18362F"/>
                </a:solidFill>
                <a:latin typeface="Arial"/>
                <a:ea typeface="Arial"/>
                <a:cs typeface="Arial"/>
              </a:defRPr>
            </a:lvl5pPr>
            <a:lvl6pPr>
              <a:defRPr sz="1800" b="1">
                <a:solidFill>
                  <a:srgbClr val="18362F"/>
                </a:solidFill>
                <a:latin typeface="Arial"/>
                <a:ea typeface="Arial"/>
                <a:cs typeface="Arial"/>
              </a:defRPr>
            </a:lvl6pPr>
            <a:lvl7pPr>
              <a:defRPr sz="1800" b="1">
                <a:solidFill>
                  <a:srgbClr val="18362F"/>
                </a:solidFill>
                <a:latin typeface="Arial"/>
                <a:ea typeface="Arial"/>
                <a:cs typeface="Arial"/>
              </a:defRPr>
            </a:lvl7pPr>
            <a:lvl8pPr>
              <a:defRPr sz="1800" b="1">
                <a:solidFill>
                  <a:srgbClr val="18362F"/>
                </a:solidFill>
                <a:latin typeface="Arial"/>
                <a:ea typeface="Arial"/>
                <a:cs typeface="Arial"/>
              </a:defRPr>
            </a:lvl8pPr>
            <a:lvl9pPr>
              <a:defRPr sz="1800" b="1">
                <a:solidFill>
                  <a:srgbClr val="18362F"/>
                </a:solidFill>
                <a:latin typeface="Arial"/>
                <a:ea typeface="Arial"/>
                <a:cs typeface="Arial"/>
              </a:defRPr>
            </a:lvl9pPr>
          </a:lstStyle>
          <a:p xmlns:a="http://schemas.openxmlformats.org/drawingml/2006/main">
            <a:pPr>
              <a:defRPr sz="1800" b="1">
                <a:solidFill>
                  <a:srgbClr val="18362F"/>
                </a:solidFill>
                <a:latin typeface="Arial"/>
                <a:ea typeface="Arial"/>
                <a:cs typeface="Arial"/>
              </a:defRPr>
            </a:pPr>
            <a:r>
              <a:rPr sz="1800" b="1">
                <a:solidFill>
                  <a:srgbClr val="18362F"/>
                </a:solidFill>
                <a:latin typeface="Arial"/>
                <a:ea typeface="Arial"/>
                <a:cs typeface="Arial"/>
              </a:rPr>
              <a:t>Application boundary</a:t>
            </a:r>
          </a:p>
        </p:txBody>
      </p:sp>
      <p:sp>
        <p:nvSpPr>
          <p:cNvPr id="13" name="">
            <a:extLst xmlns:a="http://schemas.openxmlformats.org/drawingml/2006/main">
              <a:ext uri="{FF2B5EF4-FFF2-40B4-BE49-F238E27FC236}">
                <a16:creationId xmlns:a16="http://schemas.microsoft.com/office/drawing/2014/main" id="{67072C2C-18A9-43A9-B686-E16387ABF4B2}"/>
              </a:ext>
            </a:extLst>
          </p:cNvPr>
          <p:cNvSpPr>
            <a:spLocks xmlns:a="http://schemas.openxmlformats.org/drawingml/2006/main" noGrp="1"/>
          </p:cNvSpPr>
          <p:nvPr/>
        </p:nvSpPr>
        <p:spPr>
          <a:xfrm xmlns:a="http://schemas.openxmlformats.org/drawingml/2006/main">
            <a:off x="3886200" y="4705350"/>
            <a:ext cx="7696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2F"/>
                </a:solidFill>
                <a:latin typeface="Arial"/>
                <a:ea typeface="Arial"/>
                <a:cs typeface="Arial"/>
              </a:defRPr>
            </a:defPPr>
            <a:lvl1pPr>
              <a:defRPr sz="1875" b="0">
                <a:solidFill>
                  <a:srgbClr val="18362F"/>
                </a:solidFill>
                <a:latin typeface="Arial"/>
                <a:ea typeface="Arial"/>
                <a:cs typeface="Arial"/>
              </a:defRPr>
            </a:lvl1pPr>
            <a:lvl2pPr>
              <a:defRPr sz="1875" b="0">
                <a:solidFill>
                  <a:srgbClr val="18362F"/>
                </a:solidFill>
                <a:latin typeface="Arial"/>
                <a:ea typeface="Arial"/>
                <a:cs typeface="Arial"/>
              </a:defRPr>
            </a:lvl2pPr>
            <a:lvl3pPr>
              <a:defRPr sz="1875" b="0">
                <a:solidFill>
                  <a:srgbClr val="18362F"/>
                </a:solidFill>
                <a:latin typeface="Arial"/>
                <a:ea typeface="Arial"/>
                <a:cs typeface="Arial"/>
              </a:defRPr>
            </a:lvl3pPr>
            <a:lvl4pPr>
              <a:defRPr sz="1875" b="0">
                <a:solidFill>
                  <a:srgbClr val="18362F"/>
                </a:solidFill>
                <a:latin typeface="Arial"/>
                <a:ea typeface="Arial"/>
                <a:cs typeface="Arial"/>
              </a:defRPr>
            </a:lvl4pPr>
            <a:lvl5pPr>
              <a:defRPr sz="1875" b="0">
                <a:solidFill>
                  <a:srgbClr val="18362F"/>
                </a:solidFill>
                <a:latin typeface="Arial"/>
                <a:ea typeface="Arial"/>
                <a:cs typeface="Arial"/>
              </a:defRPr>
            </a:lvl5pPr>
            <a:lvl6pPr>
              <a:defRPr sz="1875" b="0">
                <a:solidFill>
                  <a:srgbClr val="18362F"/>
                </a:solidFill>
                <a:latin typeface="Arial"/>
                <a:ea typeface="Arial"/>
                <a:cs typeface="Arial"/>
              </a:defRPr>
            </a:lvl6pPr>
            <a:lvl7pPr>
              <a:defRPr sz="1875" b="0">
                <a:solidFill>
                  <a:srgbClr val="18362F"/>
                </a:solidFill>
                <a:latin typeface="Arial"/>
                <a:ea typeface="Arial"/>
                <a:cs typeface="Arial"/>
              </a:defRPr>
            </a:lvl7pPr>
            <a:lvl8pPr>
              <a:defRPr sz="1875" b="0">
                <a:solidFill>
                  <a:srgbClr val="18362F"/>
                </a:solidFill>
                <a:latin typeface="Arial"/>
                <a:ea typeface="Arial"/>
                <a:cs typeface="Arial"/>
              </a:defRPr>
            </a:lvl8pPr>
            <a:lvl9pPr>
              <a:defRPr sz="1875" b="0">
                <a:solidFill>
                  <a:srgbClr val="18362F"/>
                </a:solidFill>
                <a:latin typeface="Arial"/>
                <a:ea typeface="Arial"/>
                <a:cs typeface="Arial"/>
              </a:defRPr>
            </a:lvl9pPr>
          </a:lstStyle>
          <a:p xmlns:a="http://schemas.openxmlformats.org/drawingml/2006/main">
            <a:pPr>
              <a:defRPr sz="1875" b="0">
                <a:solidFill>
                  <a:srgbClr val="18362F"/>
                </a:solidFill>
                <a:latin typeface="Arial"/>
                <a:ea typeface="Arial"/>
                <a:cs typeface="Arial"/>
              </a:defRPr>
            </a:pPr>
            <a:r>
              <a:rPr sz="1875" b="0">
                <a:solidFill>
                  <a:srgbClr val="18362F"/>
                </a:solidFill>
                <a:latin typeface="Arial"/>
                <a:ea typeface="Arial"/>
                <a:cs typeface="Arial"/>
              </a:rPr>
              <a:t>Illustrative edits with unverified routes and availability</a:t>
            </a:r>
          </a:p>
        </p:txBody>
      </p:sp>
      <p:sp>
        <p:nvSpPr>
          <p:cNvPr id="14" name="">
            <a:extLst xmlns:a="http://schemas.openxmlformats.org/drawingml/2006/main">
              <a:ext uri="{FF2B5EF4-FFF2-40B4-BE49-F238E27FC236}">
                <a16:creationId xmlns:a16="http://schemas.microsoft.com/office/drawing/2014/main" id="{254E0AE0-27D5-4838-BA71-51683627C54C}"/>
              </a:ext>
            </a:extLst>
          </p:cNvPr>
          <p:cNvSpPr>
            <a:spLocks xmlns:a="http://schemas.openxmlformats.org/drawingml/2006/main" noGrp="1"/>
          </p:cNvSpPr>
          <p:nvPr/>
        </p:nvSpPr>
        <p:spPr>
          <a:xfrm xmlns:a="http://schemas.openxmlformats.org/drawingml/2006/main">
            <a:off x="609600" y="58293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45D51"/>
                </a:solidFill>
                <a:latin typeface="Arial"/>
                <a:ea typeface="Arial"/>
                <a:cs typeface="Arial"/>
              </a:defRPr>
            </a:defPPr>
            <a:lvl1pPr>
              <a:defRPr sz="1725" b="0">
                <a:solidFill>
                  <a:srgbClr val="245D51"/>
                </a:solidFill>
                <a:latin typeface="Arial"/>
                <a:ea typeface="Arial"/>
                <a:cs typeface="Arial"/>
              </a:defRPr>
            </a:lvl1pPr>
            <a:lvl2pPr>
              <a:defRPr sz="1725" b="0">
                <a:solidFill>
                  <a:srgbClr val="245D51"/>
                </a:solidFill>
                <a:latin typeface="Arial"/>
                <a:ea typeface="Arial"/>
                <a:cs typeface="Arial"/>
              </a:defRPr>
            </a:lvl2pPr>
            <a:lvl3pPr>
              <a:defRPr sz="1725" b="0">
                <a:solidFill>
                  <a:srgbClr val="245D51"/>
                </a:solidFill>
                <a:latin typeface="Arial"/>
                <a:ea typeface="Arial"/>
                <a:cs typeface="Arial"/>
              </a:defRPr>
            </a:lvl3pPr>
            <a:lvl4pPr>
              <a:defRPr sz="1725" b="0">
                <a:solidFill>
                  <a:srgbClr val="245D51"/>
                </a:solidFill>
                <a:latin typeface="Arial"/>
                <a:ea typeface="Arial"/>
                <a:cs typeface="Arial"/>
              </a:defRPr>
            </a:lvl4pPr>
            <a:lvl5pPr>
              <a:defRPr sz="1725" b="0">
                <a:solidFill>
                  <a:srgbClr val="245D51"/>
                </a:solidFill>
                <a:latin typeface="Arial"/>
                <a:ea typeface="Arial"/>
                <a:cs typeface="Arial"/>
              </a:defRPr>
            </a:lvl5pPr>
            <a:lvl6pPr>
              <a:defRPr sz="1725" b="0">
                <a:solidFill>
                  <a:srgbClr val="245D51"/>
                </a:solidFill>
                <a:latin typeface="Arial"/>
                <a:ea typeface="Arial"/>
                <a:cs typeface="Arial"/>
              </a:defRPr>
            </a:lvl6pPr>
            <a:lvl7pPr>
              <a:defRPr sz="1725" b="0">
                <a:solidFill>
                  <a:srgbClr val="245D51"/>
                </a:solidFill>
                <a:latin typeface="Arial"/>
                <a:ea typeface="Arial"/>
                <a:cs typeface="Arial"/>
              </a:defRPr>
            </a:lvl7pPr>
            <a:lvl8pPr>
              <a:defRPr sz="1725" b="0">
                <a:solidFill>
                  <a:srgbClr val="245D51"/>
                </a:solidFill>
                <a:latin typeface="Arial"/>
                <a:ea typeface="Arial"/>
                <a:cs typeface="Arial"/>
              </a:defRPr>
            </a:lvl8pPr>
            <a:lvl9pPr>
              <a:defRPr sz="1725" b="0">
                <a:solidFill>
                  <a:srgbClr val="245D51"/>
                </a:solidFill>
                <a:latin typeface="Arial"/>
                <a:ea typeface="Arial"/>
                <a:cs typeface="Arial"/>
              </a:defRPr>
            </a:lvl9pPr>
          </a:lstStyle>
          <a:p xmlns:a="http://schemas.openxmlformats.org/drawingml/2006/main">
            <a:pPr>
              <a:defRPr sz="1725" b="0">
                <a:solidFill>
                  <a:srgbClr val="245D51"/>
                </a:solidFill>
                <a:latin typeface="Arial"/>
                <a:ea typeface="Arial"/>
                <a:cs typeface="Arial"/>
              </a:defRPr>
            </a:pPr>
            <a:r>
              <a:rPr sz="1725" b="0">
                <a:solidFill>
                  <a:srgbClr val="245D51"/>
                </a:solidFill>
                <a:latin typeface="Arial"/>
                <a:ea typeface="Arial"/>
                <a:cs typeface="Arial"/>
              </a:rPr>
              <a:t>github.com/hjarchivenote/travel-constraint-extraction</a:t>
            </a:r>
          </a:p>
        </p:txBody>
      </p:sp>
    </p:spTree>
    <p:extLst>
      <p:ext uri="{BB962C8B-B14F-4D97-AF65-F5344CB8AC3E}">
        <p14:creationId xmlns:p14="http://schemas.microsoft.com/office/powerpoint/2010/main" val="2628117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2026-10-29T22:59:46.6000000Z</dcterms:created>
  <dcterms:modified xsi:type="dcterms:W3CDTF">2026-10-29T22:59:46.6000000Z</dcterms:modified>
</coreProperties>
</file>